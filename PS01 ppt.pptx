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444"/>
        </a:solidFill>
        <a:effectLst/>
      </p:bgPr>
    </p:bg>
    <p:spTree>
      <p:nvGrpSpPr>
        <p:cNvPr id="1" name=""/>
        <p:cNvGrpSpPr/>
        <p:nvPr/>
      </p:nvGrpSpPr>
      <p:grpSpPr/>
      <p:sp>
        <p:nvSpPr>
          <p:cNvPr id="2" name="Oval 1"/>
          <p:cNvSpPr/>
          <p:nvPr/>
        </p:nvSpPr>
        <p:spPr>
          <a:xfrm>
            <a:off x="8869680" y="640080"/>
            <a:ext cx="1828800" cy="1828800"/>
          </a:xfrm>
          <a:prstGeom prst="ellipse">
            <a:avLst/>
          </a:prstGeom>
          <a:solidFill>
            <a:srgbClr val="1F5E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1828800"/>
            <a:ext cx="1325880" cy="1325880"/>
          </a:xfrm>
          <a:prstGeom prst="ellipse">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138160" y="2743200"/>
            <a:ext cx="914400" cy="914400"/>
          </a:xfrm>
          <a:prstGeom prst="ellipse">
            <a:avLst/>
          </a:prstGeom>
          <a:solidFill>
            <a:srgbClr val="EB9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41280" y="3931920"/>
            <a:ext cx="2011680" cy="2011680"/>
          </a:xfrm>
          <a:prstGeom prst="ellipse">
            <a:avLst/>
          </a:prstGeom>
          <a:solidFill>
            <a:srgbClr val="1F5E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85800"/>
            <a:ext cx="7132320" cy="365760"/>
          </a:xfrm>
          <a:prstGeom prst="rect">
            <a:avLst/>
          </a:prstGeom>
          <a:noFill/>
        </p:spPr>
        <p:txBody>
          <a:bodyPr wrap="square" lIns="54864" rIns="45720" tIns="27432" bIns="27432">
            <a:spAutoFit/>
          </a:bodyPr>
          <a:lstStyle/>
          <a:p>
            <a:r>
              <a:rPr sz="1400" b="1">
                <a:solidFill>
                  <a:srgbClr val="21A9BE"/>
                </a:solidFill>
                <a:latin typeface="Aptos"/>
              </a:rPr>
              <a:t>QUBEATHON • PROBLEM STATEMENT 01</a:t>
            </a:r>
          </a:p>
        </p:txBody>
      </p:sp>
      <p:sp>
        <p:nvSpPr>
          <p:cNvPr id="7" name="TextBox 6"/>
          <p:cNvSpPr txBox="1"/>
          <p:nvPr/>
        </p:nvSpPr>
        <p:spPr>
          <a:xfrm>
            <a:off x="685800" y="1417320"/>
            <a:ext cx="7772400" cy="1234440"/>
          </a:xfrm>
          <a:prstGeom prst="rect">
            <a:avLst/>
          </a:prstGeom>
          <a:noFill/>
        </p:spPr>
        <p:txBody>
          <a:bodyPr wrap="square" lIns="54864" rIns="45720" tIns="27432" bIns="27432">
            <a:spAutoFit/>
          </a:bodyPr>
          <a:lstStyle/>
          <a:p>
            <a:r>
              <a:rPr sz="3800" b="1">
                <a:solidFill>
                  <a:srgbClr val="FFFFFF"/>
                </a:solidFill>
                <a:latin typeface="Aptos"/>
              </a:rPr>
              <a:t>BIS MarkGuard AI</a:t>
            </a:r>
          </a:p>
        </p:txBody>
      </p:sp>
      <p:sp>
        <p:nvSpPr>
          <p:cNvPr id="8" name="TextBox 7"/>
          <p:cNvSpPr txBox="1"/>
          <p:nvPr/>
        </p:nvSpPr>
        <p:spPr>
          <a:xfrm>
            <a:off x="713232" y="2697480"/>
            <a:ext cx="7132320" cy="777240"/>
          </a:xfrm>
          <a:prstGeom prst="rect">
            <a:avLst/>
          </a:prstGeom>
          <a:noFill/>
        </p:spPr>
        <p:txBody>
          <a:bodyPr wrap="square" lIns="54864" rIns="45720" tIns="27432" bIns="27432">
            <a:spAutoFit/>
          </a:bodyPr>
          <a:lstStyle/>
          <a:p>
            <a:r>
              <a:rPr sz="2400" b="1">
                <a:solidFill>
                  <a:srgbClr val="D0E2F4"/>
                </a:solidFill>
                <a:latin typeface="Aptos"/>
              </a:rPr>
              <a:t>Detecting Misuse of BIS Standard Marks</a:t>
            </a:r>
          </a:p>
        </p:txBody>
      </p:sp>
      <p:sp>
        <p:nvSpPr>
          <p:cNvPr id="9" name="TextBox 8"/>
          <p:cNvSpPr txBox="1"/>
          <p:nvPr/>
        </p:nvSpPr>
        <p:spPr>
          <a:xfrm>
            <a:off x="731520" y="3794760"/>
            <a:ext cx="6766560" cy="1005840"/>
          </a:xfrm>
          <a:prstGeom prst="rect">
            <a:avLst/>
          </a:prstGeom>
          <a:noFill/>
        </p:spPr>
        <p:txBody>
          <a:bodyPr wrap="square" lIns="54864" rIns="45720" tIns="27432" bIns="27432">
            <a:spAutoFit/>
          </a:bodyPr>
          <a:lstStyle/>
          <a:p>
            <a:r>
              <a:rPr sz="1700" b="0">
                <a:solidFill>
                  <a:srgbClr val="FFFFFF"/>
                </a:solidFill>
                <a:latin typeface="Aptos"/>
              </a:rPr>
              <a:t>A human-in-the-loop AI system to screen product images, advertisements and online listings for potentially misleading conformity claims.</a:t>
            </a:r>
          </a:p>
        </p:txBody>
      </p:sp>
      <p:sp>
        <p:nvSpPr>
          <p:cNvPr id="10" name="TextBox 9"/>
          <p:cNvSpPr txBox="1"/>
          <p:nvPr/>
        </p:nvSpPr>
        <p:spPr>
          <a:xfrm>
            <a:off x="731520" y="5989320"/>
            <a:ext cx="6126480" cy="320040"/>
          </a:xfrm>
          <a:prstGeom prst="rect">
            <a:avLst/>
          </a:prstGeom>
          <a:noFill/>
        </p:spPr>
        <p:txBody>
          <a:bodyPr wrap="square" lIns="54864" rIns="45720" tIns="27432" bIns="27432">
            <a:spAutoFit/>
          </a:bodyPr>
          <a:lstStyle/>
          <a:p>
            <a:r>
              <a:rPr sz="1200" b="1">
                <a:solidFill>
                  <a:srgbClr val="21A9BE"/>
                </a:solidFill>
                <a:latin typeface="Aptos"/>
              </a:rPr>
              <a:t>Prototype concept • Evidence-first • Explainable • Reviewable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Executive summary</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A practical screening workflow—not an automated legal verdict.</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2</a:t>
            </a:r>
          </a:p>
        </p:txBody>
      </p:sp>
      <p:sp>
        <p:nvSpPr>
          <p:cNvPr id="6" name="Rounded Rectangle 5"/>
          <p:cNvSpPr/>
          <p:nvPr/>
        </p:nvSpPr>
        <p:spPr>
          <a:xfrm>
            <a:off x="685800" y="1600200"/>
            <a:ext cx="3520440" cy="182880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600200"/>
            <a:ext cx="82296" cy="1828800"/>
          </a:xfrm>
          <a:prstGeom prst="rect">
            <a:avLst/>
          </a:prstGeom>
          <a:solidFill>
            <a:srgbClr val="1F5E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28216"/>
            <a:ext cx="3172968" cy="329184"/>
          </a:xfrm>
          <a:prstGeom prst="rect">
            <a:avLst/>
          </a:prstGeom>
          <a:noFill/>
        </p:spPr>
        <p:txBody>
          <a:bodyPr wrap="square" lIns="54864" rIns="45720" tIns="27432" bIns="27432">
            <a:spAutoFit/>
          </a:bodyPr>
          <a:lstStyle/>
          <a:p>
            <a:r>
              <a:rPr sz="1600" b="1">
                <a:solidFill>
                  <a:srgbClr val="102444"/>
                </a:solidFill>
                <a:latin typeface="Aptos"/>
              </a:rPr>
              <a:t>Problem</a:t>
            </a:r>
          </a:p>
        </p:txBody>
      </p:sp>
      <p:sp>
        <p:nvSpPr>
          <p:cNvPr id="9" name="TextBox 8"/>
          <p:cNvSpPr txBox="1"/>
          <p:nvPr/>
        </p:nvSpPr>
        <p:spPr>
          <a:xfrm>
            <a:off x="886968" y="2130552"/>
            <a:ext cx="3154680" cy="1207007"/>
          </a:xfrm>
          <a:prstGeom prst="rect">
            <a:avLst/>
          </a:prstGeom>
          <a:noFill/>
        </p:spPr>
        <p:txBody>
          <a:bodyPr wrap="square" lIns="54864" rIns="45720" tIns="27432" bIns="27432">
            <a:spAutoFit/>
          </a:bodyPr>
          <a:lstStyle/>
          <a:p>
            <a:r>
              <a:rPr sz="1400" b="0">
                <a:solidFill>
                  <a:srgbClr val="232F3E"/>
                </a:solidFill>
                <a:latin typeface="Aptos"/>
              </a:rPr>
              <a:t>Large volumes of packaging, ads and e-commerce listings make manual identification slow and inconsistent.</a:t>
            </a:r>
          </a:p>
        </p:txBody>
      </p:sp>
      <p:sp>
        <p:nvSpPr>
          <p:cNvPr id="10" name="Rounded Rectangle 9"/>
          <p:cNvSpPr/>
          <p:nvPr/>
        </p:nvSpPr>
        <p:spPr>
          <a:xfrm>
            <a:off x="4343400" y="1600200"/>
            <a:ext cx="3520440" cy="182880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600200"/>
            <a:ext cx="82296" cy="1828800"/>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728216"/>
            <a:ext cx="3172968" cy="329184"/>
          </a:xfrm>
          <a:prstGeom prst="rect">
            <a:avLst/>
          </a:prstGeom>
          <a:noFill/>
        </p:spPr>
        <p:txBody>
          <a:bodyPr wrap="square" lIns="54864" rIns="45720" tIns="27432" bIns="27432">
            <a:spAutoFit/>
          </a:bodyPr>
          <a:lstStyle/>
          <a:p>
            <a:r>
              <a:rPr sz="1600" b="1">
                <a:solidFill>
                  <a:srgbClr val="102444"/>
                </a:solidFill>
                <a:latin typeface="Aptos"/>
              </a:rPr>
              <a:t>Proposed solution</a:t>
            </a:r>
          </a:p>
        </p:txBody>
      </p:sp>
      <p:sp>
        <p:nvSpPr>
          <p:cNvPr id="13" name="TextBox 12"/>
          <p:cNvSpPr txBox="1"/>
          <p:nvPr/>
        </p:nvSpPr>
        <p:spPr>
          <a:xfrm>
            <a:off x="4544568" y="2130552"/>
            <a:ext cx="3154680" cy="1207007"/>
          </a:xfrm>
          <a:prstGeom prst="rect">
            <a:avLst/>
          </a:prstGeom>
          <a:noFill/>
        </p:spPr>
        <p:txBody>
          <a:bodyPr wrap="square" lIns="54864" rIns="45720" tIns="27432" bIns="27432">
            <a:spAutoFit/>
          </a:bodyPr>
          <a:lstStyle/>
          <a:p>
            <a:r>
              <a:rPr sz="1400" b="0">
                <a:solidFill>
                  <a:srgbClr val="232F3E"/>
                </a:solidFill>
                <a:latin typeface="Aptos"/>
              </a:rPr>
              <a:t>OCR + visual mark detection + listing extraction + verification against authorised records.</a:t>
            </a:r>
          </a:p>
        </p:txBody>
      </p:sp>
      <p:sp>
        <p:nvSpPr>
          <p:cNvPr id="14" name="Rounded Rectangle 13"/>
          <p:cNvSpPr/>
          <p:nvPr/>
        </p:nvSpPr>
        <p:spPr>
          <a:xfrm>
            <a:off x="8001000" y="1600200"/>
            <a:ext cx="3520440" cy="182880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01000" y="1600200"/>
            <a:ext cx="82296" cy="1828800"/>
          </a:xfrm>
          <a:prstGeom prst="rect">
            <a:avLst/>
          </a:prstGeom>
          <a:solidFill>
            <a:srgbClr val="278E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02168" y="1728216"/>
            <a:ext cx="3172968" cy="329184"/>
          </a:xfrm>
          <a:prstGeom prst="rect">
            <a:avLst/>
          </a:prstGeom>
          <a:noFill/>
        </p:spPr>
        <p:txBody>
          <a:bodyPr wrap="square" lIns="54864" rIns="45720" tIns="27432" bIns="27432">
            <a:spAutoFit/>
          </a:bodyPr>
          <a:lstStyle/>
          <a:p>
            <a:r>
              <a:rPr sz="1600" b="1">
                <a:solidFill>
                  <a:srgbClr val="102444"/>
                </a:solidFill>
                <a:latin typeface="Aptos"/>
              </a:rPr>
              <a:t>Outcome</a:t>
            </a:r>
          </a:p>
        </p:txBody>
      </p:sp>
      <p:sp>
        <p:nvSpPr>
          <p:cNvPr id="17" name="TextBox 16"/>
          <p:cNvSpPr txBox="1"/>
          <p:nvPr/>
        </p:nvSpPr>
        <p:spPr>
          <a:xfrm>
            <a:off x="8202168" y="2130552"/>
            <a:ext cx="3154680" cy="1207007"/>
          </a:xfrm>
          <a:prstGeom prst="rect">
            <a:avLst/>
          </a:prstGeom>
          <a:noFill/>
        </p:spPr>
        <p:txBody>
          <a:bodyPr wrap="square" lIns="54864" rIns="45720" tIns="27432" bIns="27432">
            <a:spAutoFit/>
          </a:bodyPr>
          <a:lstStyle/>
          <a:p>
            <a:r>
              <a:rPr sz="1400" b="0">
                <a:solidFill>
                  <a:srgbClr val="232F3E"/>
                </a:solidFill>
                <a:latin typeface="Aptos"/>
              </a:rPr>
              <a:t>Ranked, evidence-backed leads for trained reviewers, with traceability and an audit trail.</a:t>
            </a:r>
          </a:p>
        </p:txBody>
      </p:sp>
      <p:sp>
        <p:nvSpPr>
          <p:cNvPr id="18" name="TextBox 17"/>
          <p:cNvSpPr txBox="1"/>
          <p:nvPr/>
        </p:nvSpPr>
        <p:spPr>
          <a:xfrm>
            <a:off x="777240" y="4069080"/>
            <a:ext cx="10698480" cy="1188720"/>
          </a:xfrm>
          <a:prstGeom prst="rect">
            <a:avLst/>
          </a:prstGeom>
          <a:noFill/>
        </p:spPr>
        <p:txBody>
          <a:bodyPr wrap="square" lIns="54864" rIns="45720" tIns="27432" bIns="27432">
            <a:spAutoFit/>
          </a:bodyPr>
          <a:lstStyle/>
          <a:p>
            <a:r>
              <a:rPr sz="1900" b="1">
                <a:solidFill>
                  <a:srgbClr val="102444"/>
                </a:solidFill>
                <a:latin typeface="Aptos"/>
              </a:rPr>
              <a:t>Core principle: the system flags a claim for verification; it does not declare a seller or product guilty. A mark may be genuine, misused, out of scope, expired, or simply hard to read.</a:t>
            </a:r>
          </a:p>
        </p:txBody>
      </p:sp>
      <p:sp>
        <p:nvSpPr>
          <p:cNvPr id="19" name="TextBox 18"/>
          <p:cNvSpPr txBox="1"/>
          <p:nvPr/>
        </p:nvSpPr>
        <p:spPr>
          <a:xfrm>
            <a:off x="777240" y="5715000"/>
            <a:ext cx="10515600" cy="411480"/>
          </a:xfrm>
          <a:prstGeom prst="rect">
            <a:avLst/>
          </a:prstGeom>
          <a:noFill/>
        </p:spPr>
        <p:txBody>
          <a:bodyPr wrap="square" lIns="54864" rIns="45720" tIns="27432" bIns="27432">
            <a:spAutoFit/>
          </a:bodyPr>
          <a:lstStyle/>
          <a:p>
            <a:r>
              <a:rPr sz="1200" b="0">
                <a:solidFill>
                  <a:srgbClr val="647382"/>
                </a:solidFill>
                <a:latin typeface="Aptos"/>
              </a:rPr>
              <a:t>Working name: BIS MarkGuard AI • PS01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1. Problem understanding</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What the challenge asks the team to solve</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3</a:t>
            </a:r>
          </a:p>
        </p:txBody>
      </p:sp>
      <p:sp>
        <p:nvSpPr>
          <p:cNvPr id="6" name="TextBox 5"/>
          <p:cNvSpPr txBox="1"/>
          <p:nvPr/>
        </p:nvSpPr>
        <p:spPr>
          <a:xfrm>
            <a:off x="713232" y="1508760"/>
            <a:ext cx="10789920" cy="4663440"/>
          </a:xfrm>
          <a:prstGeom prst="rect">
            <a:avLst/>
          </a:prstGeom>
          <a:noFill/>
        </p:spPr>
        <p:txBody>
          <a:bodyPr wrap="square" lIns="73152" rIns="45720">
            <a:spAutoFit/>
          </a:bodyPr>
          <a:lstStyle/>
          <a:p>
            <a:pPr>
              <a:spcAft>
                <a:spcPts val="1000"/>
              </a:spcAft>
              <a:defRPr sz="1800">
                <a:solidFill>
                  <a:srgbClr val="232F3E"/>
                </a:solidFill>
                <a:latin typeface="Aptos"/>
              </a:defRPr>
            </a:pPr>
            <a:r>
              <a:t>•  BIS receives reports about possible unauthorised or misleading use of the BIS Standard Mark.</a:t>
            </a:r>
          </a:p>
          <a:p>
            <a:pPr>
              <a:spcAft>
                <a:spcPts val="1000"/>
              </a:spcAft>
              <a:defRPr sz="1800">
                <a:solidFill>
                  <a:srgbClr val="232F3E"/>
                </a:solidFill>
                <a:latin typeface="Aptos"/>
              </a:defRPr>
            </a:pPr>
            <a:r>
              <a:t>•  Evidence can appear on product packaging, posters, websites, marketplace listings, social-media ads and retail photos.</a:t>
            </a:r>
          </a:p>
          <a:p>
            <a:pPr>
              <a:spcAft>
                <a:spcPts val="1000"/>
              </a:spcAft>
              <a:defRPr sz="1800">
                <a:solidFill>
                  <a:srgbClr val="232F3E"/>
                </a:solidFill>
                <a:latin typeface="Aptos"/>
              </a:defRPr>
            </a:pPr>
            <a:r>
              <a:t>•  The same claim may appear in different formats, low-resolution images, cropped photos or different languages.</a:t>
            </a:r>
          </a:p>
          <a:p>
            <a:pPr>
              <a:spcAft>
                <a:spcPts val="1000"/>
              </a:spcAft>
              <a:defRPr sz="1800">
                <a:solidFill>
                  <a:srgbClr val="232F3E"/>
                </a:solidFill>
                <a:latin typeface="Aptos"/>
              </a:defRPr>
            </a:pPr>
            <a:r>
              <a:t>•  Manual review requires collecting the claim, identifying the product and checking whether the claim is authorised for that product.</a:t>
            </a:r>
          </a:p>
          <a:p>
            <a:pPr>
              <a:spcAft>
                <a:spcPts val="1000"/>
              </a:spcAft>
              <a:defRPr sz="1800">
                <a:solidFill>
                  <a:srgbClr val="232F3E"/>
                </a:solidFill>
                <a:latin typeface="Aptos"/>
              </a:defRPr>
            </a:pPr>
            <a:r>
              <a:t>•  The goal is to surface suspicious cases quickly and substantiate why each case deserves human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2. BIS context and responsible interpretation</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Use official, current BIS sources and authorised records during implementation</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4</a:t>
            </a:r>
          </a:p>
        </p:txBody>
      </p:sp>
      <p:sp>
        <p:nvSpPr>
          <p:cNvPr id="6" name="Rounded Rectangle 5"/>
          <p:cNvSpPr/>
          <p:nvPr/>
        </p:nvSpPr>
        <p:spPr>
          <a:xfrm>
            <a:off x="685800" y="1554480"/>
            <a:ext cx="5349240" cy="182880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554480"/>
            <a:ext cx="82296" cy="1828800"/>
          </a:xfrm>
          <a:prstGeom prst="rect">
            <a:avLst/>
          </a:prstGeom>
          <a:solidFill>
            <a:srgbClr val="1F5E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682495"/>
            <a:ext cx="5001768" cy="329184"/>
          </a:xfrm>
          <a:prstGeom prst="rect">
            <a:avLst/>
          </a:prstGeom>
          <a:noFill/>
        </p:spPr>
        <p:txBody>
          <a:bodyPr wrap="square" lIns="54864" rIns="45720" tIns="27432" bIns="27432">
            <a:spAutoFit/>
          </a:bodyPr>
          <a:lstStyle/>
          <a:p>
            <a:r>
              <a:rPr sz="1600" b="1">
                <a:solidFill>
                  <a:srgbClr val="102444"/>
                </a:solidFill>
                <a:latin typeface="Aptos"/>
              </a:rPr>
              <a:t>BIS Standard Mark</a:t>
            </a:r>
          </a:p>
        </p:txBody>
      </p:sp>
      <p:sp>
        <p:nvSpPr>
          <p:cNvPr id="9" name="TextBox 8"/>
          <p:cNvSpPr txBox="1"/>
          <p:nvPr/>
        </p:nvSpPr>
        <p:spPr>
          <a:xfrm>
            <a:off x="886968" y="2084831"/>
            <a:ext cx="4983479" cy="1207007"/>
          </a:xfrm>
          <a:prstGeom prst="rect">
            <a:avLst/>
          </a:prstGeom>
          <a:noFill/>
        </p:spPr>
        <p:txBody>
          <a:bodyPr wrap="square" lIns="54864" rIns="45720" tIns="27432" bIns="27432">
            <a:spAutoFit/>
          </a:bodyPr>
          <a:lstStyle/>
          <a:p>
            <a:r>
              <a:rPr sz="1400" b="0">
                <a:solidFill>
                  <a:srgbClr val="232F3E"/>
                </a:solidFill>
                <a:latin typeface="Aptos"/>
              </a:rPr>
              <a:t>A conformity-related mark used under applicable BIS rules and schemes. The permitted mark, licence/registration and product scope depend on the applicable scheme.</a:t>
            </a:r>
          </a:p>
        </p:txBody>
      </p:sp>
      <p:sp>
        <p:nvSpPr>
          <p:cNvPr id="10" name="Rounded Rectangle 9"/>
          <p:cNvSpPr/>
          <p:nvPr/>
        </p:nvSpPr>
        <p:spPr>
          <a:xfrm>
            <a:off x="6263640" y="1554480"/>
            <a:ext cx="5257800" cy="182880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554480"/>
            <a:ext cx="82296" cy="1828800"/>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7" y="1682495"/>
            <a:ext cx="4910328" cy="329184"/>
          </a:xfrm>
          <a:prstGeom prst="rect">
            <a:avLst/>
          </a:prstGeom>
          <a:noFill/>
        </p:spPr>
        <p:txBody>
          <a:bodyPr wrap="square" lIns="54864" rIns="45720" tIns="27432" bIns="27432">
            <a:spAutoFit/>
          </a:bodyPr>
          <a:lstStyle/>
          <a:p>
            <a:r>
              <a:rPr sz="1600" b="1">
                <a:solidFill>
                  <a:srgbClr val="102444"/>
                </a:solidFill>
                <a:latin typeface="Aptos"/>
              </a:rPr>
              <a:t>Why verification matters</a:t>
            </a:r>
          </a:p>
        </p:txBody>
      </p:sp>
      <p:sp>
        <p:nvSpPr>
          <p:cNvPr id="13" name="TextBox 12"/>
          <p:cNvSpPr txBox="1"/>
          <p:nvPr/>
        </p:nvSpPr>
        <p:spPr>
          <a:xfrm>
            <a:off x="6464807" y="2084831"/>
            <a:ext cx="4892040" cy="1207007"/>
          </a:xfrm>
          <a:prstGeom prst="rect">
            <a:avLst/>
          </a:prstGeom>
          <a:noFill/>
        </p:spPr>
        <p:txBody>
          <a:bodyPr wrap="square" lIns="54864" rIns="45720" tIns="27432" bIns="27432">
            <a:spAutoFit/>
          </a:bodyPr>
          <a:lstStyle/>
          <a:p>
            <a:r>
              <a:rPr sz="1400" b="0">
                <a:solidFill>
                  <a:srgbClr val="232F3E"/>
                </a:solidFill>
                <a:latin typeface="Aptos"/>
              </a:rPr>
              <a:t>A visible logo alone does not prove authorisation. A valid licence for one product/model cannot automatically validate every product from the same seller.</a:t>
            </a:r>
          </a:p>
        </p:txBody>
      </p:sp>
      <p:sp>
        <p:nvSpPr>
          <p:cNvPr id="14" name="TextBox 13"/>
          <p:cNvSpPr txBox="1"/>
          <p:nvPr/>
        </p:nvSpPr>
        <p:spPr>
          <a:xfrm>
            <a:off x="777240" y="3794760"/>
            <a:ext cx="10698480" cy="2240280"/>
          </a:xfrm>
          <a:prstGeom prst="rect">
            <a:avLst/>
          </a:prstGeom>
          <a:noFill/>
        </p:spPr>
        <p:txBody>
          <a:bodyPr wrap="square" lIns="73152" rIns="45720">
            <a:spAutoFit/>
          </a:bodyPr>
          <a:lstStyle/>
          <a:p>
            <a:pPr>
              <a:spcAft>
                <a:spcPts val="700"/>
              </a:spcAft>
              <a:defRPr sz="1500">
                <a:solidFill>
                  <a:srgbClr val="232F3E"/>
                </a:solidFill>
                <a:latin typeface="Aptos"/>
              </a:defRPr>
            </a:pPr>
            <a:r>
              <a:t>•  Check current BIS guidance, licence/registration status, product scope and applicable Quality Control Order (QCO) where relevant.</a:t>
            </a:r>
          </a:p>
          <a:p>
            <a:pPr>
              <a:spcAft>
                <a:spcPts val="700"/>
              </a:spcAft>
              <a:defRPr sz="1500">
                <a:solidFill>
                  <a:srgbClr val="232F3E"/>
                </a:solidFill>
                <a:latin typeface="Aptos"/>
              </a:defRPr>
            </a:pPr>
            <a:r>
              <a:t>•  Do not treat OCR, logo matching or a missing database record as a legal conclusion.</a:t>
            </a:r>
          </a:p>
          <a:p>
            <a:pPr>
              <a:spcAft>
                <a:spcPts val="700"/>
              </a:spcAft>
              <a:defRPr sz="1500">
                <a:solidFill>
                  <a:srgbClr val="232F3E"/>
                </a:solidFill>
                <a:latin typeface="Aptos"/>
              </a:defRPr>
            </a:pPr>
            <a:r>
              <a:t>•  Record source URL, timestamp, image, extracted text and verification outcome.</a:t>
            </a:r>
          </a:p>
          <a:p>
            <a:pPr>
              <a:spcAft>
                <a:spcPts val="700"/>
              </a:spcAft>
              <a:defRPr sz="1500">
                <a:solidFill>
                  <a:srgbClr val="232F3E"/>
                </a:solidFill>
                <a:latin typeface="Aptos"/>
              </a:defRPr>
            </a:pPr>
            <a:r>
              <a:t>•  Have a qualified reviewer confirm any proposed enforcement action.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3. What could be suspicious?</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These are screening patterns, not proof of wrongdoing</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5</a:t>
            </a:r>
          </a:p>
        </p:txBody>
      </p:sp>
      <p:sp>
        <p:nvSpPr>
          <p:cNvPr id="6" name="Rounded Rectangle 5"/>
          <p:cNvSpPr/>
          <p:nvPr/>
        </p:nvSpPr>
        <p:spPr>
          <a:xfrm>
            <a:off x="640080" y="1508760"/>
            <a:ext cx="3566160" cy="141732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08760"/>
            <a:ext cx="82296" cy="1417320"/>
          </a:xfrm>
          <a:prstGeom prst="rect">
            <a:avLst/>
          </a:prstGeom>
          <a:solidFill>
            <a:srgbClr val="EB9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636776"/>
            <a:ext cx="3218688" cy="329184"/>
          </a:xfrm>
          <a:prstGeom prst="rect">
            <a:avLst/>
          </a:prstGeom>
          <a:noFill/>
        </p:spPr>
        <p:txBody>
          <a:bodyPr wrap="square" lIns="54864" rIns="45720" tIns="27432" bIns="27432">
            <a:spAutoFit/>
          </a:bodyPr>
          <a:lstStyle/>
          <a:p>
            <a:r>
              <a:rPr sz="1600" b="1">
                <a:solidFill>
                  <a:srgbClr val="102444"/>
                </a:solidFill>
                <a:latin typeface="Aptos"/>
              </a:rPr>
              <a:t>Claim without traceable ID</a:t>
            </a:r>
          </a:p>
        </p:txBody>
      </p:sp>
      <p:sp>
        <p:nvSpPr>
          <p:cNvPr id="9" name="TextBox 8"/>
          <p:cNvSpPr txBox="1"/>
          <p:nvPr/>
        </p:nvSpPr>
        <p:spPr>
          <a:xfrm>
            <a:off x="841247" y="2039112"/>
            <a:ext cx="3200400" cy="795528"/>
          </a:xfrm>
          <a:prstGeom prst="rect">
            <a:avLst/>
          </a:prstGeom>
          <a:noFill/>
        </p:spPr>
        <p:txBody>
          <a:bodyPr wrap="square" lIns="54864" rIns="45720" tIns="27432" bIns="27432">
            <a:spAutoFit/>
          </a:bodyPr>
          <a:lstStyle/>
          <a:p>
            <a:r>
              <a:rPr sz="1300" b="0">
                <a:solidFill>
                  <a:srgbClr val="232F3E"/>
                </a:solidFill>
                <a:latin typeface="Aptos"/>
              </a:rPr>
              <a:t>Mark appears, but no clear licence/registration identifier is visible.</a:t>
            </a:r>
          </a:p>
        </p:txBody>
      </p:sp>
      <p:sp>
        <p:nvSpPr>
          <p:cNvPr id="10" name="Rounded Rectangle 9"/>
          <p:cNvSpPr/>
          <p:nvPr/>
        </p:nvSpPr>
        <p:spPr>
          <a:xfrm>
            <a:off x="4343400" y="1508760"/>
            <a:ext cx="3566160" cy="141732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508760"/>
            <a:ext cx="82296" cy="1417320"/>
          </a:xfrm>
          <a:prstGeom prst="rect">
            <a:avLst/>
          </a:prstGeom>
          <a:solidFill>
            <a:srgbClr val="BE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636776"/>
            <a:ext cx="3218688" cy="329184"/>
          </a:xfrm>
          <a:prstGeom prst="rect">
            <a:avLst/>
          </a:prstGeom>
          <a:noFill/>
        </p:spPr>
        <p:txBody>
          <a:bodyPr wrap="square" lIns="54864" rIns="45720" tIns="27432" bIns="27432">
            <a:spAutoFit/>
          </a:bodyPr>
          <a:lstStyle/>
          <a:p>
            <a:r>
              <a:rPr sz="1600" b="1">
                <a:solidFill>
                  <a:srgbClr val="102444"/>
                </a:solidFill>
                <a:latin typeface="Aptos"/>
              </a:rPr>
              <a:t>Product-scope mismatch</a:t>
            </a:r>
          </a:p>
        </p:txBody>
      </p:sp>
      <p:sp>
        <p:nvSpPr>
          <p:cNvPr id="13" name="TextBox 12"/>
          <p:cNvSpPr txBox="1"/>
          <p:nvPr/>
        </p:nvSpPr>
        <p:spPr>
          <a:xfrm>
            <a:off x="4544568" y="2039112"/>
            <a:ext cx="3200400" cy="795528"/>
          </a:xfrm>
          <a:prstGeom prst="rect">
            <a:avLst/>
          </a:prstGeom>
          <a:noFill/>
        </p:spPr>
        <p:txBody>
          <a:bodyPr wrap="square" lIns="54864" rIns="45720" tIns="27432" bIns="27432">
            <a:spAutoFit/>
          </a:bodyPr>
          <a:lstStyle/>
          <a:p>
            <a:r>
              <a:rPr sz="1300" b="0">
                <a:solidFill>
                  <a:srgbClr val="232F3E"/>
                </a:solidFill>
                <a:latin typeface="Aptos"/>
              </a:rPr>
              <a:t>Identifier appears linked to a different product, model or manufacturer.</a:t>
            </a:r>
          </a:p>
        </p:txBody>
      </p:sp>
      <p:sp>
        <p:nvSpPr>
          <p:cNvPr id="14" name="Rounded Rectangle 13"/>
          <p:cNvSpPr/>
          <p:nvPr/>
        </p:nvSpPr>
        <p:spPr>
          <a:xfrm>
            <a:off x="8046720" y="1508760"/>
            <a:ext cx="3474720" cy="141732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508760"/>
            <a:ext cx="82296" cy="1417320"/>
          </a:xfrm>
          <a:prstGeom prst="rect">
            <a:avLst/>
          </a:prstGeom>
          <a:solidFill>
            <a:srgbClr val="BE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636776"/>
            <a:ext cx="3127248" cy="329184"/>
          </a:xfrm>
          <a:prstGeom prst="rect">
            <a:avLst/>
          </a:prstGeom>
          <a:noFill/>
        </p:spPr>
        <p:txBody>
          <a:bodyPr wrap="square" lIns="54864" rIns="45720" tIns="27432" bIns="27432">
            <a:spAutoFit/>
          </a:bodyPr>
          <a:lstStyle/>
          <a:p>
            <a:r>
              <a:rPr sz="1600" b="1">
                <a:solidFill>
                  <a:srgbClr val="102444"/>
                </a:solidFill>
                <a:latin typeface="Aptos"/>
              </a:rPr>
              <a:t>Altered or imitation mark</a:t>
            </a:r>
          </a:p>
        </p:txBody>
      </p:sp>
      <p:sp>
        <p:nvSpPr>
          <p:cNvPr id="17" name="TextBox 16"/>
          <p:cNvSpPr txBox="1"/>
          <p:nvPr/>
        </p:nvSpPr>
        <p:spPr>
          <a:xfrm>
            <a:off x="8247888" y="2039112"/>
            <a:ext cx="3108960" cy="795528"/>
          </a:xfrm>
          <a:prstGeom prst="rect">
            <a:avLst/>
          </a:prstGeom>
          <a:noFill/>
        </p:spPr>
        <p:txBody>
          <a:bodyPr wrap="square" lIns="54864" rIns="45720" tIns="27432" bIns="27432">
            <a:spAutoFit/>
          </a:bodyPr>
          <a:lstStyle/>
          <a:p>
            <a:r>
              <a:rPr sz="1300" b="0">
                <a:solidFill>
                  <a:srgbClr val="232F3E"/>
                </a:solidFill>
                <a:latin typeface="Aptos"/>
              </a:rPr>
              <a:t>Logo geometry, wording or placement differs materially from references.</a:t>
            </a:r>
          </a:p>
        </p:txBody>
      </p:sp>
      <p:sp>
        <p:nvSpPr>
          <p:cNvPr id="18" name="Rounded Rectangle 17"/>
          <p:cNvSpPr/>
          <p:nvPr/>
        </p:nvSpPr>
        <p:spPr>
          <a:xfrm>
            <a:off x="640080" y="3246120"/>
            <a:ext cx="3566160" cy="141732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3246120"/>
            <a:ext cx="82296" cy="1417320"/>
          </a:xfrm>
          <a:prstGeom prst="rect">
            <a:avLst/>
          </a:prstGeom>
          <a:solidFill>
            <a:srgbClr val="EB9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7" y="3374136"/>
            <a:ext cx="3218688" cy="329184"/>
          </a:xfrm>
          <a:prstGeom prst="rect">
            <a:avLst/>
          </a:prstGeom>
          <a:noFill/>
        </p:spPr>
        <p:txBody>
          <a:bodyPr wrap="square" lIns="54864" rIns="45720" tIns="27432" bIns="27432">
            <a:spAutoFit/>
          </a:bodyPr>
          <a:lstStyle/>
          <a:p>
            <a:r>
              <a:rPr sz="1600" b="1">
                <a:solidFill>
                  <a:srgbClr val="102444"/>
                </a:solidFill>
                <a:latin typeface="Aptos"/>
              </a:rPr>
              <a:t>Misleading text claim</a:t>
            </a:r>
          </a:p>
        </p:txBody>
      </p:sp>
      <p:sp>
        <p:nvSpPr>
          <p:cNvPr id="21" name="TextBox 20"/>
          <p:cNvSpPr txBox="1"/>
          <p:nvPr/>
        </p:nvSpPr>
        <p:spPr>
          <a:xfrm>
            <a:off x="841247" y="3776472"/>
            <a:ext cx="3200400" cy="795528"/>
          </a:xfrm>
          <a:prstGeom prst="rect">
            <a:avLst/>
          </a:prstGeom>
          <a:noFill/>
        </p:spPr>
        <p:txBody>
          <a:bodyPr wrap="square" lIns="54864" rIns="45720" tIns="27432" bIns="27432">
            <a:spAutoFit/>
          </a:bodyPr>
          <a:lstStyle/>
          <a:p>
            <a:r>
              <a:rPr sz="1300" b="0">
                <a:solidFill>
                  <a:srgbClr val="232F3E"/>
                </a:solidFill>
                <a:latin typeface="Aptos"/>
              </a:rPr>
              <a:t>“BIS approved/certified” wording without supporting evidence or with confusing wording.</a:t>
            </a:r>
          </a:p>
        </p:txBody>
      </p:sp>
      <p:sp>
        <p:nvSpPr>
          <p:cNvPr id="22" name="Rounded Rectangle 21"/>
          <p:cNvSpPr/>
          <p:nvPr/>
        </p:nvSpPr>
        <p:spPr>
          <a:xfrm>
            <a:off x="4343400" y="3246120"/>
            <a:ext cx="3566160" cy="141732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43400" y="3246120"/>
            <a:ext cx="82296" cy="1417320"/>
          </a:xfrm>
          <a:prstGeom prst="rect">
            <a:avLst/>
          </a:prstGeom>
          <a:solidFill>
            <a:srgbClr val="1F5E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44568" y="3374136"/>
            <a:ext cx="3218688" cy="329184"/>
          </a:xfrm>
          <a:prstGeom prst="rect">
            <a:avLst/>
          </a:prstGeom>
          <a:noFill/>
        </p:spPr>
        <p:txBody>
          <a:bodyPr wrap="square" lIns="54864" rIns="45720" tIns="27432" bIns="27432">
            <a:spAutoFit/>
          </a:bodyPr>
          <a:lstStyle/>
          <a:p>
            <a:r>
              <a:rPr sz="1600" b="1">
                <a:solidFill>
                  <a:srgbClr val="102444"/>
                </a:solidFill>
                <a:latin typeface="Aptos"/>
              </a:rPr>
              <a:t>Expired / inactive status</a:t>
            </a:r>
          </a:p>
        </p:txBody>
      </p:sp>
      <p:sp>
        <p:nvSpPr>
          <p:cNvPr id="25" name="TextBox 24"/>
          <p:cNvSpPr txBox="1"/>
          <p:nvPr/>
        </p:nvSpPr>
        <p:spPr>
          <a:xfrm>
            <a:off x="4544568" y="3776472"/>
            <a:ext cx="3200400" cy="795528"/>
          </a:xfrm>
          <a:prstGeom prst="rect">
            <a:avLst/>
          </a:prstGeom>
          <a:noFill/>
        </p:spPr>
        <p:txBody>
          <a:bodyPr wrap="square" lIns="54864" rIns="45720" tIns="27432" bIns="27432">
            <a:spAutoFit/>
          </a:bodyPr>
          <a:lstStyle/>
          <a:p>
            <a:r>
              <a:rPr sz="1300" b="0">
                <a:solidFill>
                  <a:srgbClr val="232F3E"/>
                </a:solidFill>
                <a:latin typeface="Aptos"/>
              </a:rPr>
              <a:t>Status appears inactive at the time checked; verify effective dates and scope.</a:t>
            </a:r>
          </a:p>
        </p:txBody>
      </p:sp>
      <p:sp>
        <p:nvSpPr>
          <p:cNvPr id="26" name="Rounded Rectangle 25"/>
          <p:cNvSpPr/>
          <p:nvPr/>
        </p:nvSpPr>
        <p:spPr>
          <a:xfrm>
            <a:off x="8046720" y="3246120"/>
            <a:ext cx="3474720" cy="141732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46720" y="3246120"/>
            <a:ext cx="82296" cy="1417320"/>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47888" y="3374136"/>
            <a:ext cx="3127248" cy="329184"/>
          </a:xfrm>
          <a:prstGeom prst="rect">
            <a:avLst/>
          </a:prstGeom>
          <a:noFill/>
        </p:spPr>
        <p:txBody>
          <a:bodyPr wrap="square" lIns="54864" rIns="45720" tIns="27432" bIns="27432">
            <a:spAutoFit/>
          </a:bodyPr>
          <a:lstStyle/>
          <a:p>
            <a:r>
              <a:rPr sz="1600" b="1">
                <a:solidFill>
                  <a:srgbClr val="102444"/>
                </a:solidFill>
                <a:latin typeface="Aptos"/>
              </a:rPr>
              <a:t>Repeated / duplicate listing</a:t>
            </a:r>
          </a:p>
        </p:txBody>
      </p:sp>
      <p:sp>
        <p:nvSpPr>
          <p:cNvPr id="29" name="TextBox 28"/>
          <p:cNvSpPr txBox="1"/>
          <p:nvPr/>
        </p:nvSpPr>
        <p:spPr>
          <a:xfrm>
            <a:off x="8247888" y="3776472"/>
            <a:ext cx="3108960" cy="795528"/>
          </a:xfrm>
          <a:prstGeom prst="rect">
            <a:avLst/>
          </a:prstGeom>
          <a:noFill/>
        </p:spPr>
        <p:txBody>
          <a:bodyPr wrap="square" lIns="54864" rIns="45720" tIns="27432" bIns="27432">
            <a:spAutoFit/>
          </a:bodyPr>
          <a:lstStyle/>
          <a:p>
            <a:r>
              <a:rPr sz="1300" b="0">
                <a:solidFill>
                  <a:srgbClr val="232F3E"/>
                </a:solidFill>
                <a:latin typeface="Aptos"/>
              </a:rPr>
              <a:t>Same image or identifier appears on unrelated products or multiple sellers.</a:t>
            </a:r>
          </a:p>
        </p:txBody>
      </p:sp>
      <p:sp>
        <p:nvSpPr>
          <p:cNvPr id="30" name="TextBox 29"/>
          <p:cNvSpPr txBox="1"/>
          <p:nvPr/>
        </p:nvSpPr>
        <p:spPr>
          <a:xfrm>
            <a:off x="731520" y="5257800"/>
            <a:ext cx="10698480" cy="548640"/>
          </a:xfrm>
          <a:prstGeom prst="rect">
            <a:avLst/>
          </a:prstGeom>
          <a:noFill/>
        </p:spPr>
        <p:txBody>
          <a:bodyPr wrap="square" lIns="54864" rIns="45720" tIns="27432" bIns="27432">
            <a:spAutoFit/>
          </a:bodyPr>
          <a:lstStyle/>
          <a:p>
            <a:r>
              <a:rPr sz="1500" b="1">
                <a:solidFill>
                  <a:srgbClr val="647382"/>
                </a:solidFill>
                <a:latin typeface="Aptos"/>
              </a:rPr>
              <a:t>Poor image quality, missing text or a failed lookup can also produce false alarms. Every case needs context.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4. Inputs and evidence sources</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Designed for multimodal, mixed-quality real-world information</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6</a:t>
            </a:r>
          </a:p>
        </p:txBody>
      </p:sp>
      <p:sp>
        <p:nvSpPr>
          <p:cNvPr id="6" name="Rounded Rectangle 5"/>
          <p:cNvSpPr/>
          <p:nvPr/>
        </p:nvSpPr>
        <p:spPr>
          <a:xfrm>
            <a:off x="502920" y="2194560"/>
            <a:ext cx="2057400" cy="1325880"/>
          </a:xfrm>
          <a:prstGeom prst="roundRect">
            <a:avLst/>
          </a:prstGeom>
          <a:solidFill>
            <a:srgbClr val="EEF5FB"/>
          </a:solidFill>
          <a:ln>
            <a:solidFill>
              <a:srgbClr val="1F5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 y="2286000"/>
            <a:ext cx="1911095" cy="274320"/>
          </a:xfrm>
          <a:prstGeom prst="rect">
            <a:avLst/>
          </a:prstGeom>
          <a:noFill/>
        </p:spPr>
        <p:txBody>
          <a:bodyPr wrap="square" lIns="54864" rIns="45720" tIns="27432" bIns="27432">
            <a:spAutoFit/>
          </a:bodyPr>
          <a:lstStyle/>
          <a:p>
            <a:pPr algn="ctr"/>
            <a:r>
              <a:rPr sz="1300" b="1">
                <a:solidFill>
                  <a:srgbClr val="102444"/>
                </a:solidFill>
                <a:latin typeface="Aptos"/>
              </a:rPr>
              <a:t>Images</a:t>
            </a:r>
          </a:p>
        </p:txBody>
      </p:sp>
      <p:sp>
        <p:nvSpPr>
          <p:cNvPr id="8" name="TextBox 7"/>
          <p:cNvSpPr txBox="1"/>
          <p:nvPr/>
        </p:nvSpPr>
        <p:spPr>
          <a:xfrm>
            <a:off x="594360" y="2606040"/>
            <a:ext cx="1874519" cy="868680"/>
          </a:xfrm>
          <a:prstGeom prst="rect">
            <a:avLst/>
          </a:prstGeom>
          <a:noFill/>
        </p:spPr>
        <p:txBody>
          <a:bodyPr wrap="square" lIns="54864" rIns="45720" tIns="27432" bIns="27432">
            <a:spAutoFit/>
          </a:bodyPr>
          <a:lstStyle/>
          <a:p>
            <a:pPr algn="ctr"/>
            <a:r>
              <a:rPr sz="1000" b="0">
                <a:solidFill>
                  <a:srgbClr val="232F3E"/>
                </a:solidFill>
                <a:latin typeface="Aptos"/>
              </a:rPr>
              <a:t>Packaging, retail photos, posters</a:t>
            </a:r>
          </a:p>
        </p:txBody>
      </p:sp>
      <p:sp>
        <p:nvSpPr>
          <p:cNvPr id="9" name="TextBox 8"/>
          <p:cNvSpPr txBox="1"/>
          <p:nvPr/>
        </p:nvSpPr>
        <p:spPr>
          <a:xfrm>
            <a:off x="2560320" y="2532888"/>
            <a:ext cx="320040" cy="274320"/>
          </a:xfrm>
          <a:prstGeom prst="rect">
            <a:avLst/>
          </a:prstGeom>
          <a:noFill/>
        </p:spPr>
        <p:txBody>
          <a:bodyPr wrap="square" lIns="54864" rIns="45720" tIns="27432" bIns="27432">
            <a:spAutoFit/>
          </a:bodyPr>
          <a:lstStyle/>
          <a:p>
            <a:pPr algn="ctr"/>
            <a:r>
              <a:rPr sz="1800" b="1">
                <a:solidFill>
                  <a:srgbClr val="21A9BE"/>
                </a:solidFill>
                <a:latin typeface="Aptos"/>
              </a:rPr>
              <a:t>→</a:t>
            </a:r>
          </a:p>
        </p:txBody>
      </p:sp>
      <p:sp>
        <p:nvSpPr>
          <p:cNvPr id="10" name="Rounded Rectangle 9"/>
          <p:cNvSpPr/>
          <p:nvPr/>
        </p:nvSpPr>
        <p:spPr>
          <a:xfrm>
            <a:off x="2880360" y="2194560"/>
            <a:ext cx="2057400" cy="1325880"/>
          </a:xfrm>
          <a:prstGeom prst="roundRect">
            <a:avLst/>
          </a:prstGeom>
          <a:solidFill>
            <a:srgbClr val="E5F2F7"/>
          </a:solidFill>
          <a:ln>
            <a:solidFill>
              <a:srgbClr val="1F5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53512" y="2286000"/>
            <a:ext cx="1911095" cy="274320"/>
          </a:xfrm>
          <a:prstGeom prst="rect">
            <a:avLst/>
          </a:prstGeom>
          <a:noFill/>
        </p:spPr>
        <p:txBody>
          <a:bodyPr wrap="square" lIns="54864" rIns="45720" tIns="27432" bIns="27432">
            <a:spAutoFit/>
          </a:bodyPr>
          <a:lstStyle/>
          <a:p>
            <a:pPr algn="ctr"/>
            <a:r>
              <a:rPr sz="1300" b="1">
                <a:solidFill>
                  <a:srgbClr val="102444"/>
                </a:solidFill>
                <a:latin typeface="Aptos"/>
              </a:rPr>
              <a:t>Text</a:t>
            </a:r>
          </a:p>
        </p:txBody>
      </p:sp>
      <p:sp>
        <p:nvSpPr>
          <p:cNvPr id="12" name="TextBox 11"/>
          <p:cNvSpPr txBox="1"/>
          <p:nvPr/>
        </p:nvSpPr>
        <p:spPr>
          <a:xfrm>
            <a:off x="2971800" y="2606040"/>
            <a:ext cx="1874519" cy="868680"/>
          </a:xfrm>
          <a:prstGeom prst="rect">
            <a:avLst/>
          </a:prstGeom>
          <a:noFill/>
        </p:spPr>
        <p:txBody>
          <a:bodyPr wrap="square" lIns="54864" rIns="45720" tIns="27432" bIns="27432">
            <a:spAutoFit/>
          </a:bodyPr>
          <a:lstStyle/>
          <a:p>
            <a:pPr algn="ctr"/>
            <a:r>
              <a:rPr sz="1000" b="0">
                <a:solidFill>
                  <a:srgbClr val="232F3E"/>
                </a:solidFill>
                <a:latin typeface="Aptos"/>
              </a:rPr>
              <a:t>Ads, claims, descriptions</a:t>
            </a:r>
          </a:p>
        </p:txBody>
      </p:sp>
      <p:sp>
        <p:nvSpPr>
          <p:cNvPr id="13" name="TextBox 12"/>
          <p:cNvSpPr txBox="1"/>
          <p:nvPr/>
        </p:nvSpPr>
        <p:spPr>
          <a:xfrm>
            <a:off x="4937760" y="2532888"/>
            <a:ext cx="320040" cy="274320"/>
          </a:xfrm>
          <a:prstGeom prst="rect">
            <a:avLst/>
          </a:prstGeom>
          <a:noFill/>
        </p:spPr>
        <p:txBody>
          <a:bodyPr wrap="square" lIns="54864" rIns="45720" tIns="27432" bIns="27432">
            <a:spAutoFit/>
          </a:bodyPr>
          <a:lstStyle/>
          <a:p>
            <a:pPr algn="ctr"/>
            <a:r>
              <a:rPr sz="1800" b="1">
                <a:solidFill>
                  <a:srgbClr val="21A9BE"/>
                </a:solidFill>
                <a:latin typeface="Aptos"/>
              </a:rPr>
              <a:t>→</a:t>
            </a:r>
          </a:p>
        </p:txBody>
      </p:sp>
      <p:sp>
        <p:nvSpPr>
          <p:cNvPr id="14" name="Rounded Rectangle 13"/>
          <p:cNvSpPr/>
          <p:nvPr/>
        </p:nvSpPr>
        <p:spPr>
          <a:xfrm>
            <a:off x="5257800" y="2194560"/>
            <a:ext cx="2057400" cy="1325880"/>
          </a:xfrm>
          <a:prstGeom prst="roundRect">
            <a:avLst/>
          </a:prstGeom>
          <a:solidFill>
            <a:srgbClr val="EEF5FB"/>
          </a:solidFill>
          <a:ln>
            <a:solidFill>
              <a:srgbClr val="1F5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30952" y="2286000"/>
            <a:ext cx="1911095" cy="274320"/>
          </a:xfrm>
          <a:prstGeom prst="rect">
            <a:avLst/>
          </a:prstGeom>
          <a:noFill/>
        </p:spPr>
        <p:txBody>
          <a:bodyPr wrap="square" lIns="54864" rIns="45720" tIns="27432" bIns="27432">
            <a:spAutoFit/>
          </a:bodyPr>
          <a:lstStyle/>
          <a:p>
            <a:pPr algn="ctr"/>
            <a:r>
              <a:rPr sz="1300" b="1">
                <a:solidFill>
                  <a:srgbClr val="102444"/>
                </a:solidFill>
                <a:latin typeface="Aptos"/>
              </a:rPr>
              <a:t>Listings</a:t>
            </a:r>
          </a:p>
        </p:txBody>
      </p:sp>
      <p:sp>
        <p:nvSpPr>
          <p:cNvPr id="16" name="TextBox 15"/>
          <p:cNvSpPr txBox="1"/>
          <p:nvPr/>
        </p:nvSpPr>
        <p:spPr>
          <a:xfrm>
            <a:off x="5349240" y="2606040"/>
            <a:ext cx="1874519" cy="868680"/>
          </a:xfrm>
          <a:prstGeom prst="rect">
            <a:avLst/>
          </a:prstGeom>
          <a:noFill/>
        </p:spPr>
        <p:txBody>
          <a:bodyPr wrap="square" lIns="54864" rIns="45720" tIns="27432" bIns="27432">
            <a:spAutoFit/>
          </a:bodyPr>
          <a:lstStyle/>
          <a:p>
            <a:pPr algn="ctr"/>
            <a:r>
              <a:rPr sz="1000" b="0">
                <a:solidFill>
                  <a:srgbClr val="232F3E"/>
                </a:solidFill>
                <a:latin typeface="Aptos"/>
              </a:rPr>
              <a:t>Title, seller, SKU, model</a:t>
            </a:r>
          </a:p>
        </p:txBody>
      </p:sp>
      <p:sp>
        <p:nvSpPr>
          <p:cNvPr id="17" name="TextBox 16"/>
          <p:cNvSpPr txBox="1"/>
          <p:nvPr/>
        </p:nvSpPr>
        <p:spPr>
          <a:xfrm>
            <a:off x="7315200" y="2532888"/>
            <a:ext cx="320040" cy="274320"/>
          </a:xfrm>
          <a:prstGeom prst="rect">
            <a:avLst/>
          </a:prstGeom>
          <a:noFill/>
        </p:spPr>
        <p:txBody>
          <a:bodyPr wrap="square" lIns="54864" rIns="45720" tIns="27432" bIns="27432">
            <a:spAutoFit/>
          </a:bodyPr>
          <a:lstStyle/>
          <a:p>
            <a:pPr algn="ctr"/>
            <a:r>
              <a:rPr sz="1800" b="1">
                <a:solidFill>
                  <a:srgbClr val="21A9BE"/>
                </a:solidFill>
                <a:latin typeface="Aptos"/>
              </a:rPr>
              <a:t>→</a:t>
            </a:r>
          </a:p>
        </p:txBody>
      </p:sp>
      <p:sp>
        <p:nvSpPr>
          <p:cNvPr id="18" name="Rounded Rectangle 17"/>
          <p:cNvSpPr/>
          <p:nvPr/>
        </p:nvSpPr>
        <p:spPr>
          <a:xfrm>
            <a:off x="7635240" y="2194560"/>
            <a:ext cx="2057400" cy="1325880"/>
          </a:xfrm>
          <a:prstGeom prst="roundRect">
            <a:avLst/>
          </a:prstGeom>
          <a:solidFill>
            <a:srgbClr val="E5F2F7"/>
          </a:solidFill>
          <a:ln>
            <a:solidFill>
              <a:srgbClr val="1F5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2286000"/>
            <a:ext cx="1911095" cy="274320"/>
          </a:xfrm>
          <a:prstGeom prst="rect">
            <a:avLst/>
          </a:prstGeom>
          <a:noFill/>
        </p:spPr>
        <p:txBody>
          <a:bodyPr wrap="square" lIns="54864" rIns="45720" tIns="27432" bIns="27432">
            <a:spAutoFit/>
          </a:bodyPr>
          <a:lstStyle/>
          <a:p>
            <a:pPr algn="ctr"/>
            <a:r>
              <a:rPr sz="1300" b="1">
                <a:solidFill>
                  <a:srgbClr val="102444"/>
                </a:solidFill>
                <a:latin typeface="Aptos"/>
              </a:rPr>
              <a:t>Official data</a:t>
            </a:r>
          </a:p>
        </p:txBody>
      </p:sp>
      <p:sp>
        <p:nvSpPr>
          <p:cNvPr id="20" name="TextBox 19"/>
          <p:cNvSpPr txBox="1"/>
          <p:nvPr/>
        </p:nvSpPr>
        <p:spPr>
          <a:xfrm>
            <a:off x="7726680" y="2606040"/>
            <a:ext cx="1874519" cy="868680"/>
          </a:xfrm>
          <a:prstGeom prst="rect">
            <a:avLst/>
          </a:prstGeom>
          <a:noFill/>
        </p:spPr>
        <p:txBody>
          <a:bodyPr wrap="square" lIns="54864" rIns="45720" tIns="27432" bIns="27432">
            <a:spAutoFit/>
          </a:bodyPr>
          <a:lstStyle/>
          <a:p>
            <a:pPr algn="ctr"/>
            <a:r>
              <a:rPr sz="1000" b="0">
                <a:solidFill>
                  <a:srgbClr val="232F3E"/>
                </a:solidFill>
                <a:latin typeface="Aptos"/>
              </a:rPr>
              <a:t>Authorisation / scope records</a:t>
            </a:r>
          </a:p>
        </p:txBody>
      </p:sp>
      <p:sp>
        <p:nvSpPr>
          <p:cNvPr id="21" name="TextBox 20"/>
          <p:cNvSpPr txBox="1"/>
          <p:nvPr/>
        </p:nvSpPr>
        <p:spPr>
          <a:xfrm>
            <a:off x="9692640" y="2532888"/>
            <a:ext cx="320040" cy="274320"/>
          </a:xfrm>
          <a:prstGeom prst="rect">
            <a:avLst/>
          </a:prstGeom>
          <a:noFill/>
        </p:spPr>
        <p:txBody>
          <a:bodyPr wrap="square" lIns="54864" rIns="45720" tIns="27432" bIns="27432">
            <a:spAutoFit/>
          </a:bodyPr>
          <a:lstStyle/>
          <a:p>
            <a:pPr algn="ctr"/>
            <a:r>
              <a:rPr sz="1800" b="1">
                <a:solidFill>
                  <a:srgbClr val="21A9BE"/>
                </a:solidFill>
                <a:latin typeface="Aptos"/>
              </a:rPr>
              <a:t>→</a:t>
            </a:r>
          </a:p>
        </p:txBody>
      </p:sp>
      <p:sp>
        <p:nvSpPr>
          <p:cNvPr id="22" name="Rounded Rectangle 21"/>
          <p:cNvSpPr/>
          <p:nvPr/>
        </p:nvSpPr>
        <p:spPr>
          <a:xfrm>
            <a:off x="10012680" y="2194560"/>
            <a:ext cx="2057400" cy="1325880"/>
          </a:xfrm>
          <a:prstGeom prst="roundRect">
            <a:avLst/>
          </a:prstGeom>
          <a:solidFill>
            <a:srgbClr val="EEF5FB"/>
          </a:solidFill>
          <a:ln>
            <a:solidFill>
              <a:srgbClr val="1F5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85832" y="2286000"/>
            <a:ext cx="1911095" cy="274320"/>
          </a:xfrm>
          <a:prstGeom prst="rect">
            <a:avLst/>
          </a:prstGeom>
          <a:noFill/>
        </p:spPr>
        <p:txBody>
          <a:bodyPr wrap="square" lIns="54864" rIns="45720" tIns="27432" bIns="27432">
            <a:spAutoFit/>
          </a:bodyPr>
          <a:lstStyle/>
          <a:p>
            <a:pPr algn="ctr"/>
            <a:r>
              <a:rPr sz="1300" b="1">
                <a:solidFill>
                  <a:srgbClr val="102444"/>
                </a:solidFill>
                <a:latin typeface="Aptos"/>
              </a:rPr>
              <a:t>Case file</a:t>
            </a:r>
          </a:p>
        </p:txBody>
      </p:sp>
      <p:sp>
        <p:nvSpPr>
          <p:cNvPr id="24" name="TextBox 23"/>
          <p:cNvSpPr txBox="1"/>
          <p:nvPr/>
        </p:nvSpPr>
        <p:spPr>
          <a:xfrm>
            <a:off x="10104120" y="2606040"/>
            <a:ext cx="1874519" cy="868680"/>
          </a:xfrm>
          <a:prstGeom prst="rect">
            <a:avLst/>
          </a:prstGeom>
          <a:noFill/>
        </p:spPr>
        <p:txBody>
          <a:bodyPr wrap="square" lIns="54864" rIns="45720" tIns="27432" bIns="27432">
            <a:spAutoFit/>
          </a:bodyPr>
          <a:lstStyle/>
          <a:p>
            <a:pPr algn="ctr"/>
            <a:r>
              <a:rPr sz="1000" b="0">
                <a:solidFill>
                  <a:srgbClr val="232F3E"/>
                </a:solidFill>
                <a:latin typeface="Aptos"/>
              </a:rPr>
              <a:t>Evidence + reviewer decision</a:t>
            </a:r>
          </a:p>
        </p:txBody>
      </p:sp>
      <p:sp>
        <p:nvSpPr>
          <p:cNvPr id="25" name="TextBox 24"/>
          <p:cNvSpPr txBox="1"/>
          <p:nvPr/>
        </p:nvSpPr>
        <p:spPr>
          <a:xfrm>
            <a:off x="777240" y="4160520"/>
            <a:ext cx="10607040" cy="1645920"/>
          </a:xfrm>
          <a:prstGeom prst="rect">
            <a:avLst/>
          </a:prstGeom>
          <a:noFill/>
        </p:spPr>
        <p:txBody>
          <a:bodyPr wrap="square" lIns="73152" rIns="45720">
            <a:spAutoFit/>
          </a:bodyPr>
          <a:lstStyle/>
          <a:p>
            <a:pPr>
              <a:spcAft>
                <a:spcPts val="700"/>
              </a:spcAft>
              <a:defRPr sz="1600">
                <a:solidFill>
                  <a:srgbClr val="232F3E"/>
                </a:solidFill>
                <a:latin typeface="Aptos"/>
              </a:defRPr>
            </a:pPr>
            <a:r>
              <a:t>•  Ingest only permitted, lawfully obtained sources; respect platform terms, privacy and access controls.</a:t>
            </a:r>
          </a:p>
          <a:p>
            <a:pPr>
              <a:spcAft>
                <a:spcPts val="700"/>
              </a:spcAft>
              <a:defRPr sz="1600">
                <a:solidFill>
                  <a:srgbClr val="232F3E"/>
                </a:solidFill>
                <a:latin typeface="Aptos"/>
              </a:defRPr>
            </a:pPr>
            <a:r>
              <a:t>•  Capture source URL or source ID, capture time, image hash and relevant page metadata.</a:t>
            </a:r>
          </a:p>
          <a:p>
            <a:pPr>
              <a:spcAft>
                <a:spcPts val="700"/>
              </a:spcAft>
              <a:defRPr sz="1600">
                <a:solidFill>
                  <a:srgbClr val="232F3E"/>
                </a:solidFill>
                <a:latin typeface="Aptos"/>
              </a:defRPr>
            </a:pPr>
            <a:r>
              <a:t>•  Keep original evidence immutable; create separate working copies for OCR, cropping and annotation.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5. Proposed solution: BIS MarkGuard AI</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Hybrid AI + rules + official-record checks + human review</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7</a:t>
            </a:r>
          </a:p>
        </p:txBody>
      </p:sp>
      <p:sp>
        <p:nvSpPr>
          <p:cNvPr id="6" name="Rounded Rectangle 5"/>
          <p:cNvSpPr/>
          <p:nvPr/>
        </p:nvSpPr>
        <p:spPr>
          <a:xfrm>
            <a:off x="320040" y="2331720"/>
            <a:ext cx="1737360" cy="1280160"/>
          </a:xfrm>
          <a:prstGeom prst="roundRect">
            <a:avLst/>
          </a:prstGeom>
          <a:solidFill>
            <a:srgbClr val="EEF5FB"/>
          </a:solidFill>
          <a:ln>
            <a:solidFill>
              <a:srgbClr val="1F5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3192" y="2423160"/>
            <a:ext cx="1591056" cy="274320"/>
          </a:xfrm>
          <a:prstGeom prst="rect">
            <a:avLst/>
          </a:prstGeom>
          <a:noFill/>
        </p:spPr>
        <p:txBody>
          <a:bodyPr wrap="square" lIns="54864" rIns="45720" tIns="27432" bIns="27432">
            <a:spAutoFit/>
          </a:bodyPr>
          <a:lstStyle/>
          <a:p>
            <a:pPr algn="ctr"/>
            <a:r>
              <a:rPr sz="1300" b="1">
                <a:solidFill>
                  <a:srgbClr val="102444"/>
                </a:solidFill>
                <a:latin typeface="Aptos"/>
              </a:rPr>
              <a:t>1. Ingest</a:t>
            </a:r>
          </a:p>
        </p:txBody>
      </p:sp>
      <p:sp>
        <p:nvSpPr>
          <p:cNvPr id="8" name="TextBox 7"/>
          <p:cNvSpPr txBox="1"/>
          <p:nvPr/>
        </p:nvSpPr>
        <p:spPr>
          <a:xfrm>
            <a:off x="411479" y="2743200"/>
            <a:ext cx="1554480" cy="822959"/>
          </a:xfrm>
          <a:prstGeom prst="rect">
            <a:avLst/>
          </a:prstGeom>
          <a:noFill/>
        </p:spPr>
        <p:txBody>
          <a:bodyPr wrap="square" lIns="54864" rIns="45720" tIns="27432" bIns="27432">
            <a:spAutoFit/>
          </a:bodyPr>
          <a:lstStyle/>
          <a:p>
            <a:pPr algn="ctr"/>
            <a:r>
              <a:rPr sz="1000" b="0">
                <a:solidFill>
                  <a:srgbClr val="232F3E"/>
                </a:solidFill>
                <a:latin typeface="Aptos"/>
              </a:rPr>
              <a:t>Image, URL, listing</a:t>
            </a:r>
          </a:p>
        </p:txBody>
      </p:sp>
      <p:sp>
        <p:nvSpPr>
          <p:cNvPr id="9" name="TextBox 8"/>
          <p:cNvSpPr txBox="1"/>
          <p:nvPr/>
        </p:nvSpPr>
        <p:spPr>
          <a:xfrm>
            <a:off x="2057400" y="2670048"/>
            <a:ext cx="228600" cy="274320"/>
          </a:xfrm>
          <a:prstGeom prst="rect">
            <a:avLst/>
          </a:prstGeom>
          <a:noFill/>
        </p:spPr>
        <p:txBody>
          <a:bodyPr wrap="square" lIns="54864" rIns="45720" tIns="27432" bIns="27432">
            <a:spAutoFit/>
          </a:bodyPr>
          <a:lstStyle/>
          <a:p>
            <a:pPr algn="ctr"/>
            <a:r>
              <a:rPr sz="1800" b="1">
                <a:solidFill>
                  <a:srgbClr val="21A9BE"/>
                </a:solidFill>
                <a:latin typeface="Aptos"/>
              </a:rPr>
              <a:t>→</a:t>
            </a:r>
          </a:p>
        </p:txBody>
      </p:sp>
      <p:sp>
        <p:nvSpPr>
          <p:cNvPr id="10" name="Rounded Rectangle 9"/>
          <p:cNvSpPr/>
          <p:nvPr/>
        </p:nvSpPr>
        <p:spPr>
          <a:xfrm>
            <a:off x="2286000" y="2331720"/>
            <a:ext cx="1737360" cy="1280160"/>
          </a:xfrm>
          <a:prstGeom prst="roundRect">
            <a:avLst/>
          </a:prstGeom>
          <a:solidFill>
            <a:srgbClr val="E5F2F7"/>
          </a:solidFill>
          <a:ln>
            <a:solidFill>
              <a:srgbClr val="1F5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59152" y="2423160"/>
            <a:ext cx="1591056" cy="274320"/>
          </a:xfrm>
          <a:prstGeom prst="rect">
            <a:avLst/>
          </a:prstGeom>
          <a:noFill/>
        </p:spPr>
        <p:txBody>
          <a:bodyPr wrap="square" lIns="54864" rIns="45720" tIns="27432" bIns="27432">
            <a:spAutoFit/>
          </a:bodyPr>
          <a:lstStyle/>
          <a:p>
            <a:pPr algn="ctr"/>
            <a:r>
              <a:rPr sz="1300" b="1">
                <a:solidFill>
                  <a:srgbClr val="102444"/>
                </a:solidFill>
                <a:latin typeface="Aptos"/>
              </a:rPr>
              <a:t>2. Extract</a:t>
            </a:r>
          </a:p>
        </p:txBody>
      </p:sp>
      <p:sp>
        <p:nvSpPr>
          <p:cNvPr id="12" name="TextBox 11"/>
          <p:cNvSpPr txBox="1"/>
          <p:nvPr/>
        </p:nvSpPr>
        <p:spPr>
          <a:xfrm>
            <a:off x="2377440" y="2743200"/>
            <a:ext cx="1554480" cy="822959"/>
          </a:xfrm>
          <a:prstGeom prst="rect">
            <a:avLst/>
          </a:prstGeom>
          <a:noFill/>
        </p:spPr>
        <p:txBody>
          <a:bodyPr wrap="square" lIns="54864" rIns="45720" tIns="27432" bIns="27432">
            <a:spAutoFit/>
          </a:bodyPr>
          <a:lstStyle/>
          <a:p>
            <a:pPr algn="ctr"/>
            <a:r>
              <a:rPr sz="1000" b="0">
                <a:solidFill>
                  <a:srgbClr val="232F3E"/>
                </a:solidFill>
                <a:latin typeface="Aptos"/>
              </a:rPr>
              <a:t>OCR, title, IDs</a:t>
            </a:r>
          </a:p>
        </p:txBody>
      </p:sp>
      <p:sp>
        <p:nvSpPr>
          <p:cNvPr id="13" name="TextBox 12"/>
          <p:cNvSpPr txBox="1"/>
          <p:nvPr/>
        </p:nvSpPr>
        <p:spPr>
          <a:xfrm>
            <a:off x="4023360" y="2670048"/>
            <a:ext cx="228600" cy="274320"/>
          </a:xfrm>
          <a:prstGeom prst="rect">
            <a:avLst/>
          </a:prstGeom>
          <a:noFill/>
        </p:spPr>
        <p:txBody>
          <a:bodyPr wrap="square" lIns="54864" rIns="45720" tIns="27432" bIns="27432">
            <a:spAutoFit/>
          </a:bodyPr>
          <a:lstStyle/>
          <a:p>
            <a:pPr algn="ctr"/>
            <a:r>
              <a:rPr sz="1800" b="1">
                <a:solidFill>
                  <a:srgbClr val="21A9BE"/>
                </a:solidFill>
                <a:latin typeface="Aptos"/>
              </a:rPr>
              <a:t>→</a:t>
            </a:r>
          </a:p>
        </p:txBody>
      </p:sp>
      <p:sp>
        <p:nvSpPr>
          <p:cNvPr id="14" name="Rounded Rectangle 13"/>
          <p:cNvSpPr/>
          <p:nvPr/>
        </p:nvSpPr>
        <p:spPr>
          <a:xfrm>
            <a:off x="4251959" y="2331720"/>
            <a:ext cx="1737360" cy="1280160"/>
          </a:xfrm>
          <a:prstGeom prst="roundRect">
            <a:avLst/>
          </a:prstGeom>
          <a:solidFill>
            <a:srgbClr val="EEF5FB"/>
          </a:solidFill>
          <a:ln>
            <a:solidFill>
              <a:srgbClr val="1F5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25112" y="2423160"/>
            <a:ext cx="1591056" cy="274320"/>
          </a:xfrm>
          <a:prstGeom prst="rect">
            <a:avLst/>
          </a:prstGeom>
          <a:noFill/>
        </p:spPr>
        <p:txBody>
          <a:bodyPr wrap="square" lIns="54864" rIns="45720" tIns="27432" bIns="27432">
            <a:spAutoFit/>
          </a:bodyPr>
          <a:lstStyle/>
          <a:p>
            <a:pPr algn="ctr"/>
            <a:r>
              <a:rPr sz="1300" b="1">
                <a:solidFill>
                  <a:srgbClr val="102444"/>
                </a:solidFill>
                <a:latin typeface="Aptos"/>
              </a:rPr>
              <a:t>3. Detect</a:t>
            </a:r>
          </a:p>
        </p:txBody>
      </p:sp>
      <p:sp>
        <p:nvSpPr>
          <p:cNvPr id="16" name="TextBox 15"/>
          <p:cNvSpPr txBox="1"/>
          <p:nvPr/>
        </p:nvSpPr>
        <p:spPr>
          <a:xfrm>
            <a:off x="4343399" y="2743200"/>
            <a:ext cx="1554480" cy="822959"/>
          </a:xfrm>
          <a:prstGeom prst="rect">
            <a:avLst/>
          </a:prstGeom>
          <a:noFill/>
        </p:spPr>
        <p:txBody>
          <a:bodyPr wrap="square" lIns="54864" rIns="45720" tIns="27432" bIns="27432">
            <a:spAutoFit/>
          </a:bodyPr>
          <a:lstStyle/>
          <a:p>
            <a:pPr algn="ctr"/>
            <a:r>
              <a:rPr sz="1000" b="0">
                <a:solidFill>
                  <a:srgbClr val="232F3E"/>
                </a:solidFill>
                <a:latin typeface="Aptos"/>
              </a:rPr>
              <a:t>Mark / claim regions</a:t>
            </a:r>
          </a:p>
        </p:txBody>
      </p:sp>
      <p:sp>
        <p:nvSpPr>
          <p:cNvPr id="17" name="TextBox 16"/>
          <p:cNvSpPr txBox="1"/>
          <p:nvPr/>
        </p:nvSpPr>
        <p:spPr>
          <a:xfrm>
            <a:off x="5989319" y="2670048"/>
            <a:ext cx="228600" cy="274320"/>
          </a:xfrm>
          <a:prstGeom prst="rect">
            <a:avLst/>
          </a:prstGeom>
          <a:noFill/>
        </p:spPr>
        <p:txBody>
          <a:bodyPr wrap="square" lIns="54864" rIns="45720" tIns="27432" bIns="27432">
            <a:spAutoFit/>
          </a:bodyPr>
          <a:lstStyle/>
          <a:p>
            <a:pPr algn="ctr"/>
            <a:r>
              <a:rPr sz="1800" b="1">
                <a:solidFill>
                  <a:srgbClr val="21A9BE"/>
                </a:solidFill>
                <a:latin typeface="Aptos"/>
              </a:rPr>
              <a:t>→</a:t>
            </a:r>
          </a:p>
        </p:txBody>
      </p:sp>
      <p:sp>
        <p:nvSpPr>
          <p:cNvPr id="18" name="Rounded Rectangle 17"/>
          <p:cNvSpPr/>
          <p:nvPr/>
        </p:nvSpPr>
        <p:spPr>
          <a:xfrm>
            <a:off x="6217919" y="2331720"/>
            <a:ext cx="1737360" cy="1280160"/>
          </a:xfrm>
          <a:prstGeom prst="roundRect">
            <a:avLst/>
          </a:prstGeom>
          <a:solidFill>
            <a:srgbClr val="E5F2F7"/>
          </a:solidFill>
          <a:ln>
            <a:solidFill>
              <a:srgbClr val="1F5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91071" y="2423160"/>
            <a:ext cx="1591056" cy="274320"/>
          </a:xfrm>
          <a:prstGeom prst="rect">
            <a:avLst/>
          </a:prstGeom>
          <a:noFill/>
        </p:spPr>
        <p:txBody>
          <a:bodyPr wrap="square" lIns="54864" rIns="45720" tIns="27432" bIns="27432">
            <a:spAutoFit/>
          </a:bodyPr>
          <a:lstStyle/>
          <a:p>
            <a:pPr algn="ctr"/>
            <a:r>
              <a:rPr sz="1300" b="1">
                <a:solidFill>
                  <a:srgbClr val="102444"/>
                </a:solidFill>
                <a:latin typeface="Aptos"/>
              </a:rPr>
              <a:t>4. Verify</a:t>
            </a:r>
          </a:p>
        </p:txBody>
      </p:sp>
      <p:sp>
        <p:nvSpPr>
          <p:cNvPr id="20" name="TextBox 19"/>
          <p:cNvSpPr txBox="1"/>
          <p:nvPr/>
        </p:nvSpPr>
        <p:spPr>
          <a:xfrm>
            <a:off x="6309359" y="2743200"/>
            <a:ext cx="1554480" cy="822959"/>
          </a:xfrm>
          <a:prstGeom prst="rect">
            <a:avLst/>
          </a:prstGeom>
          <a:noFill/>
        </p:spPr>
        <p:txBody>
          <a:bodyPr wrap="square" lIns="54864" rIns="45720" tIns="27432" bIns="27432">
            <a:spAutoFit/>
          </a:bodyPr>
          <a:lstStyle/>
          <a:p>
            <a:pPr algn="ctr"/>
            <a:r>
              <a:rPr sz="1000" b="0">
                <a:solidFill>
                  <a:srgbClr val="232F3E"/>
                </a:solidFill>
                <a:latin typeface="Aptos"/>
              </a:rPr>
              <a:t>Approved data + scope</a:t>
            </a:r>
          </a:p>
        </p:txBody>
      </p:sp>
      <p:sp>
        <p:nvSpPr>
          <p:cNvPr id="21" name="TextBox 20"/>
          <p:cNvSpPr txBox="1"/>
          <p:nvPr/>
        </p:nvSpPr>
        <p:spPr>
          <a:xfrm>
            <a:off x="7955279" y="2670048"/>
            <a:ext cx="228600" cy="274320"/>
          </a:xfrm>
          <a:prstGeom prst="rect">
            <a:avLst/>
          </a:prstGeom>
          <a:noFill/>
        </p:spPr>
        <p:txBody>
          <a:bodyPr wrap="square" lIns="54864" rIns="45720" tIns="27432" bIns="27432">
            <a:spAutoFit/>
          </a:bodyPr>
          <a:lstStyle/>
          <a:p>
            <a:pPr algn="ctr"/>
            <a:r>
              <a:rPr sz="1800" b="1">
                <a:solidFill>
                  <a:srgbClr val="21A9BE"/>
                </a:solidFill>
                <a:latin typeface="Aptos"/>
              </a:rPr>
              <a:t>→</a:t>
            </a:r>
          </a:p>
        </p:txBody>
      </p:sp>
      <p:sp>
        <p:nvSpPr>
          <p:cNvPr id="22" name="Rounded Rectangle 21"/>
          <p:cNvSpPr/>
          <p:nvPr/>
        </p:nvSpPr>
        <p:spPr>
          <a:xfrm>
            <a:off x="8183879" y="2331720"/>
            <a:ext cx="1737360" cy="1280160"/>
          </a:xfrm>
          <a:prstGeom prst="roundRect">
            <a:avLst/>
          </a:prstGeom>
          <a:solidFill>
            <a:srgbClr val="EEF5FB"/>
          </a:solidFill>
          <a:ln>
            <a:solidFill>
              <a:srgbClr val="1F5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57031" y="2423160"/>
            <a:ext cx="1591056" cy="274320"/>
          </a:xfrm>
          <a:prstGeom prst="rect">
            <a:avLst/>
          </a:prstGeom>
          <a:noFill/>
        </p:spPr>
        <p:txBody>
          <a:bodyPr wrap="square" lIns="54864" rIns="45720" tIns="27432" bIns="27432">
            <a:spAutoFit/>
          </a:bodyPr>
          <a:lstStyle/>
          <a:p>
            <a:pPr algn="ctr"/>
            <a:r>
              <a:rPr sz="1300" b="1">
                <a:solidFill>
                  <a:srgbClr val="102444"/>
                </a:solidFill>
                <a:latin typeface="Aptos"/>
              </a:rPr>
              <a:t>5. Score</a:t>
            </a:r>
          </a:p>
        </p:txBody>
      </p:sp>
      <p:sp>
        <p:nvSpPr>
          <p:cNvPr id="24" name="TextBox 23"/>
          <p:cNvSpPr txBox="1"/>
          <p:nvPr/>
        </p:nvSpPr>
        <p:spPr>
          <a:xfrm>
            <a:off x="8275319" y="2743200"/>
            <a:ext cx="1554480" cy="822959"/>
          </a:xfrm>
          <a:prstGeom prst="rect">
            <a:avLst/>
          </a:prstGeom>
          <a:noFill/>
        </p:spPr>
        <p:txBody>
          <a:bodyPr wrap="square" lIns="54864" rIns="45720" tIns="27432" bIns="27432">
            <a:spAutoFit/>
          </a:bodyPr>
          <a:lstStyle/>
          <a:p>
            <a:pPr algn="ctr"/>
            <a:r>
              <a:rPr sz="1000" b="0">
                <a:solidFill>
                  <a:srgbClr val="232F3E"/>
                </a:solidFill>
                <a:latin typeface="Aptos"/>
              </a:rPr>
              <a:t>Risk + evidence</a:t>
            </a:r>
          </a:p>
        </p:txBody>
      </p:sp>
      <p:sp>
        <p:nvSpPr>
          <p:cNvPr id="25" name="TextBox 24"/>
          <p:cNvSpPr txBox="1"/>
          <p:nvPr/>
        </p:nvSpPr>
        <p:spPr>
          <a:xfrm>
            <a:off x="9921240" y="2670048"/>
            <a:ext cx="228600" cy="274320"/>
          </a:xfrm>
          <a:prstGeom prst="rect">
            <a:avLst/>
          </a:prstGeom>
          <a:noFill/>
        </p:spPr>
        <p:txBody>
          <a:bodyPr wrap="square" lIns="54864" rIns="45720" tIns="27432" bIns="27432">
            <a:spAutoFit/>
          </a:bodyPr>
          <a:lstStyle/>
          <a:p>
            <a:pPr algn="ctr"/>
            <a:r>
              <a:rPr sz="1800" b="1">
                <a:solidFill>
                  <a:srgbClr val="21A9BE"/>
                </a:solidFill>
                <a:latin typeface="Aptos"/>
              </a:rPr>
              <a:t>→</a:t>
            </a:r>
          </a:p>
        </p:txBody>
      </p:sp>
      <p:sp>
        <p:nvSpPr>
          <p:cNvPr id="26" name="Rounded Rectangle 25"/>
          <p:cNvSpPr/>
          <p:nvPr/>
        </p:nvSpPr>
        <p:spPr>
          <a:xfrm>
            <a:off x="10149840" y="2331720"/>
            <a:ext cx="1737360" cy="1280160"/>
          </a:xfrm>
          <a:prstGeom prst="roundRect">
            <a:avLst/>
          </a:prstGeom>
          <a:solidFill>
            <a:srgbClr val="E5F2F7"/>
          </a:solidFill>
          <a:ln>
            <a:solidFill>
              <a:srgbClr val="1F5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2992" y="2423160"/>
            <a:ext cx="1591056" cy="274320"/>
          </a:xfrm>
          <a:prstGeom prst="rect">
            <a:avLst/>
          </a:prstGeom>
          <a:noFill/>
        </p:spPr>
        <p:txBody>
          <a:bodyPr wrap="square" lIns="54864" rIns="45720" tIns="27432" bIns="27432">
            <a:spAutoFit/>
          </a:bodyPr>
          <a:lstStyle/>
          <a:p>
            <a:pPr algn="ctr"/>
            <a:r>
              <a:rPr sz="1300" b="1">
                <a:solidFill>
                  <a:srgbClr val="102444"/>
                </a:solidFill>
                <a:latin typeface="Aptos"/>
              </a:rPr>
              <a:t>6. Review</a:t>
            </a:r>
          </a:p>
        </p:txBody>
      </p:sp>
      <p:sp>
        <p:nvSpPr>
          <p:cNvPr id="28" name="TextBox 27"/>
          <p:cNvSpPr txBox="1"/>
          <p:nvPr/>
        </p:nvSpPr>
        <p:spPr>
          <a:xfrm>
            <a:off x="10241280" y="2743200"/>
            <a:ext cx="1554480" cy="822959"/>
          </a:xfrm>
          <a:prstGeom prst="rect">
            <a:avLst/>
          </a:prstGeom>
          <a:noFill/>
        </p:spPr>
        <p:txBody>
          <a:bodyPr wrap="square" lIns="54864" rIns="45720" tIns="27432" bIns="27432">
            <a:spAutoFit/>
          </a:bodyPr>
          <a:lstStyle/>
          <a:p>
            <a:pPr algn="ctr"/>
            <a:r>
              <a:rPr sz="1000" b="0">
                <a:solidFill>
                  <a:srgbClr val="232F3E"/>
                </a:solidFill>
                <a:latin typeface="Aptos"/>
              </a:rPr>
              <a:t>Queue, decision, audit</a:t>
            </a:r>
          </a:p>
        </p:txBody>
      </p:sp>
      <p:sp>
        <p:nvSpPr>
          <p:cNvPr id="29" name="TextBox 28"/>
          <p:cNvSpPr txBox="1"/>
          <p:nvPr/>
        </p:nvSpPr>
        <p:spPr>
          <a:xfrm>
            <a:off x="731520" y="4160520"/>
            <a:ext cx="10789920" cy="914400"/>
          </a:xfrm>
          <a:prstGeom prst="rect">
            <a:avLst/>
          </a:prstGeom>
          <a:noFill/>
        </p:spPr>
        <p:txBody>
          <a:bodyPr wrap="square" lIns="54864" rIns="45720" tIns="27432" bIns="27432">
            <a:spAutoFit/>
          </a:bodyPr>
          <a:lstStyle/>
          <a:p>
            <a:r>
              <a:rPr sz="1800" b="1">
                <a:solidFill>
                  <a:srgbClr val="102444"/>
                </a:solidFill>
                <a:latin typeface="Aptos"/>
              </a:rPr>
              <a:t>Output: a case card with the exact claim, detected mark crop, identifier, product attributes, source, verification checks, risk reasons, confidence and next action.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6. System architecture</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Modular design keeps the prototype buildable and auditable</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8</a:t>
            </a:r>
          </a:p>
        </p:txBody>
      </p:sp>
      <p:sp>
        <p:nvSpPr>
          <p:cNvPr id="6" name="Rounded Rectangle 5"/>
          <p:cNvSpPr/>
          <p:nvPr/>
        </p:nvSpPr>
        <p:spPr>
          <a:xfrm>
            <a:off x="594360" y="1508760"/>
            <a:ext cx="2743200" cy="123444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508760"/>
            <a:ext cx="82296" cy="1234440"/>
          </a:xfrm>
          <a:prstGeom prst="rect">
            <a:avLst/>
          </a:prstGeom>
          <a:solidFill>
            <a:srgbClr val="1F5E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636776"/>
            <a:ext cx="2395728" cy="329184"/>
          </a:xfrm>
          <a:prstGeom prst="rect">
            <a:avLst/>
          </a:prstGeom>
          <a:noFill/>
        </p:spPr>
        <p:txBody>
          <a:bodyPr wrap="square" lIns="54864" rIns="45720" tIns="27432" bIns="27432">
            <a:spAutoFit/>
          </a:bodyPr>
          <a:lstStyle/>
          <a:p>
            <a:r>
              <a:rPr sz="1600" b="1">
                <a:solidFill>
                  <a:srgbClr val="102444"/>
                </a:solidFill>
                <a:latin typeface="Aptos"/>
              </a:rPr>
              <a:t>Frontend</a:t>
            </a:r>
          </a:p>
        </p:txBody>
      </p:sp>
      <p:sp>
        <p:nvSpPr>
          <p:cNvPr id="9" name="TextBox 8"/>
          <p:cNvSpPr txBox="1"/>
          <p:nvPr/>
        </p:nvSpPr>
        <p:spPr>
          <a:xfrm>
            <a:off x="795528" y="2039112"/>
            <a:ext cx="2377440" cy="612648"/>
          </a:xfrm>
          <a:prstGeom prst="rect">
            <a:avLst/>
          </a:prstGeom>
          <a:noFill/>
        </p:spPr>
        <p:txBody>
          <a:bodyPr wrap="square" lIns="54864" rIns="45720" tIns="27432" bIns="27432">
            <a:spAutoFit/>
          </a:bodyPr>
          <a:lstStyle/>
          <a:p>
            <a:r>
              <a:rPr sz="1200" b="0">
                <a:solidFill>
                  <a:srgbClr val="232F3E"/>
                </a:solidFill>
                <a:latin typeface="Aptos"/>
              </a:rPr>
              <a:t>Upload / URL form • case queue • evidence viewer</a:t>
            </a:r>
          </a:p>
        </p:txBody>
      </p:sp>
      <p:sp>
        <p:nvSpPr>
          <p:cNvPr id="10" name="Rounded Rectangle 9"/>
          <p:cNvSpPr/>
          <p:nvPr/>
        </p:nvSpPr>
        <p:spPr>
          <a:xfrm>
            <a:off x="3520440" y="1508760"/>
            <a:ext cx="2743200" cy="123444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20440" y="1508760"/>
            <a:ext cx="82296" cy="1234440"/>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21608" y="1636776"/>
            <a:ext cx="2395728" cy="329184"/>
          </a:xfrm>
          <a:prstGeom prst="rect">
            <a:avLst/>
          </a:prstGeom>
          <a:noFill/>
        </p:spPr>
        <p:txBody>
          <a:bodyPr wrap="square" lIns="54864" rIns="45720" tIns="27432" bIns="27432">
            <a:spAutoFit/>
          </a:bodyPr>
          <a:lstStyle/>
          <a:p>
            <a:r>
              <a:rPr sz="1600" b="1">
                <a:solidFill>
                  <a:srgbClr val="102444"/>
                </a:solidFill>
                <a:latin typeface="Aptos"/>
              </a:rPr>
              <a:t>API layer</a:t>
            </a:r>
          </a:p>
        </p:txBody>
      </p:sp>
      <p:sp>
        <p:nvSpPr>
          <p:cNvPr id="13" name="TextBox 12"/>
          <p:cNvSpPr txBox="1"/>
          <p:nvPr/>
        </p:nvSpPr>
        <p:spPr>
          <a:xfrm>
            <a:off x="3721608" y="2039112"/>
            <a:ext cx="2377440" cy="612648"/>
          </a:xfrm>
          <a:prstGeom prst="rect">
            <a:avLst/>
          </a:prstGeom>
          <a:noFill/>
        </p:spPr>
        <p:txBody>
          <a:bodyPr wrap="square" lIns="54864" rIns="45720" tIns="27432" bIns="27432">
            <a:spAutoFit/>
          </a:bodyPr>
          <a:lstStyle/>
          <a:p>
            <a:r>
              <a:rPr sz="1200" b="0">
                <a:solidFill>
                  <a:srgbClr val="232F3E"/>
                </a:solidFill>
                <a:latin typeface="Aptos"/>
              </a:rPr>
              <a:t>Validation • job status • auth • audit events</a:t>
            </a:r>
          </a:p>
        </p:txBody>
      </p:sp>
      <p:sp>
        <p:nvSpPr>
          <p:cNvPr id="14" name="Rounded Rectangle 13"/>
          <p:cNvSpPr/>
          <p:nvPr/>
        </p:nvSpPr>
        <p:spPr>
          <a:xfrm>
            <a:off x="6446520" y="1508760"/>
            <a:ext cx="2377440" cy="123444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46520" y="1508760"/>
            <a:ext cx="82296" cy="1234440"/>
          </a:xfrm>
          <a:prstGeom prst="rect">
            <a:avLst/>
          </a:prstGeom>
          <a:solidFill>
            <a:srgbClr val="EB9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47688" y="1636776"/>
            <a:ext cx="2029968" cy="329184"/>
          </a:xfrm>
          <a:prstGeom prst="rect">
            <a:avLst/>
          </a:prstGeom>
          <a:noFill/>
        </p:spPr>
        <p:txBody>
          <a:bodyPr wrap="square" lIns="54864" rIns="45720" tIns="27432" bIns="27432">
            <a:spAutoFit/>
          </a:bodyPr>
          <a:lstStyle/>
          <a:p>
            <a:r>
              <a:rPr sz="1600" b="1">
                <a:solidFill>
                  <a:srgbClr val="102444"/>
                </a:solidFill>
                <a:latin typeface="Aptos"/>
              </a:rPr>
              <a:t>AI services</a:t>
            </a:r>
          </a:p>
        </p:txBody>
      </p:sp>
      <p:sp>
        <p:nvSpPr>
          <p:cNvPr id="17" name="TextBox 16"/>
          <p:cNvSpPr txBox="1"/>
          <p:nvPr/>
        </p:nvSpPr>
        <p:spPr>
          <a:xfrm>
            <a:off x="6647688" y="2039112"/>
            <a:ext cx="2011680" cy="612648"/>
          </a:xfrm>
          <a:prstGeom prst="rect">
            <a:avLst/>
          </a:prstGeom>
          <a:noFill/>
        </p:spPr>
        <p:txBody>
          <a:bodyPr wrap="square" lIns="54864" rIns="45720" tIns="27432" bIns="27432">
            <a:spAutoFit/>
          </a:bodyPr>
          <a:lstStyle/>
          <a:p>
            <a:r>
              <a:rPr sz="1200" b="0">
                <a:solidFill>
                  <a:srgbClr val="232F3E"/>
                </a:solidFill>
                <a:latin typeface="Aptos"/>
              </a:rPr>
              <a:t>OCR • image detection • text rules</a:t>
            </a:r>
          </a:p>
        </p:txBody>
      </p:sp>
      <p:sp>
        <p:nvSpPr>
          <p:cNvPr id="18" name="Rounded Rectangle 17"/>
          <p:cNvSpPr/>
          <p:nvPr/>
        </p:nvSpPr>
        <p:spPr>
          <a:xfrm>
            <a:off x="9006840" y="1508760"/>
            <a:ext cx="2560320" cy="123444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06840" y="1508760"/>
            <a:ext cx="82296" cy="1234440"/>
          </a:xfrm>
          <a:prstGeom prst="rect">
            <a:avLst/>
          </a:prstGeom>
          <a:solidFill>
            <a:srgbClr val="278E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8008" y="1636776"/>
            <a:ext cx="2212848" cy="329184"/>
          </a:xfrm>
          <a:prstGeom prst="rect">
            <a:avLst/>
          </a:prstGeom>
          <a:noFill/>
        </p:spPr>
        <p:txBody>
          <a:bodyPr wrap="square" lIns="54864" rIns="45720" tIns="27432" bIns="27432">
            <a:spAutoFit/>
          </a:bodyPr>
          <a:lstStyle/>
          <a:p>
            <a:r>
              <a:rPr sz="1600" b="1">
                <a:solidFill>
                  <a:srgbClr val="102444"/>
                </a:solidFill>
                <a:latin typeface="Aptos"/>
              </a:rPr>
              <a:t>Data layer</a:t>
            </a:r>
          </a:p>
        </p:txBody>
      </p:sp>
      <p:sp>
        <p:nvSpPr>
          <p:cNvPr id="21" name="TextBox 20"/>
          <p:cNvSpPr txBox="1"/>
          <p:nvPr/>
        </p:nvSpPr>
        <p:spPr>
          <a:xfrm>
            <a:off x="9208008" y="2039112"/>
            <a:ext cx="2194560" cy="612648"/>
          </a:xfrm>
          <a:prstGeom prst="rect">
            <a:avLst/>
          </a:prstGeom>
          <a:noFill/>
        </p:spPr>
        <p:txBody>
          <a:bodyPr wrap="square" lIns="54864" rIns="45720" tIns="27432" bIns="27432">
            <a:spAutoFit/>
          </a:bodyPr>
          <a:lstStyle/>
          <a:p>
            <a:r>
              <a:rPr sz="1200" b="0">
                <a:solidFill>
                  <a:srgbClr val="232F3E"/>
                </a:solidFill>
                <a:latin typeface="Aptos"/>
              </a:rPr>
              <a:t>Cases • evidence • official-record snapshot</a:t>
            </a:r>
          </a:p>
        </p:txBody>
      </p:sp>
      <p:sp>
        <p:nvSpPr>
          <p:cNvPr id="22" name="TextBox 21"/>
          <p:cNvSpPr txBox="1"/>
          <p:nvPr/>
        </p:nvSpPr>
        <p:spPr>
          <a:xfrm>
            <a:off x="3246120" y="1947672"/>
            <a:ext cx="256032" cy="274320"/>
          </a:xfrm>
          <a:prstGeom prst="rect">
            <a:avLst/>
          </a:prstGeom>
          <a:noFill/>
        </p:spPr>
        <p:txBody>
          <a:bodyPr wrap="square" lIns="54864" rIns="45720" tIns="27432" bIns="27432">
            <a:spAutoFit/>
          </a:bodyPr>
          <a:lstStyle/>
          <a:p>
            <a:r>
              <a:rPr sz="2000" b="1">
                <a:solidFill>
                  <a:srgbClr val="21A9BE"/>
                </a:solidFill>
                <a:latin typeface="Aptos"/>
              </a:rPr>
              <a:t>→</a:t>
            </a:r>
          </a:p>
        </p:txBody>
      </p:sp>
      <p:sp>
        <p:nvSpPr>
          <p:cNvPr id="23" name="TextBox 22"/>
          <p:cNvSpPr txBox="1"/>
          <p:nvPr/>
        </p:nvSpPr>
        <p:spPr>
          <a:xfrm>
            <a:off x="6172200" y="1947672"/>
            <a:ext cx="256032" cy="274320"/>
          </a:xfrm>
          <a:prstGeom prst="rect">
            <a:avLst/>
          </a:prstGeom>
          <a:noFill/>
        </p:spPr>
        <p:txBody>
          <a:bodyPr wrap="square" lIns="54864" rIns="45720" tIns="27432" bIns="27432">
            <a:spAutoFit/>
          </a:bodyPr>
          <a:lstStyle/>
          <a:p>
            <a:r>
              <a:rPr sz="2000" b="1">
                <a:solidFill>
                  <a:srgbClr val="21A9BE"/>
                </a:solidFill>
                <a:latin typeface="Aptos"/>
              </a:rPr>
              <a:t>→</a:t>
            </a:r>
          </a:p>
        </p:txBody>
      </p:sp>
      <p:sp>
        <p:nvSpPr>
          <p:cNvPr id="24" name="TextBox 23"/>
          <p:cNvSpPr txBox="1"/>
          <p:nvPr/>
        </p:nvSpPr>
        <p:spPr>
          <a:xfrm>
            <a:off x="8732520" y="1947672"/>
            <a:ext cx="256032" cy="274320"/>
          </a:xfrm>
          <a:prstGeom prst="rect">
            <a:avLst/>
          </a:prstGeom>
          <a:noFill/>
        </p:spPr>
        <p:txBody>
          <a:bodyPr wrap="square" lIns="54864" rIns="45720" tIns="27432" bIns="27432">
            <a:spAutoFit/>
          </a:bodyPr>
          <a:lstStyle/>
          <a:p>
            <a:r>
              <a:rPr sz="2000" b="1">
                <a:solidFill>
                  <a:srgbClr val="21A9BE"/>
                </a:solidFill>
                <a:latin typeface="Aptos"/>
              </a:rPr>
              <a:t>→</a:t>
            </a:r>
          </a:p>
        </p:txBody>
      </p:sp>
      <p:sp>
        <p:nvSpPr>
          <p:cNvPr id="25" name="Rounded Rectangle 24"/>
          <p:cNvSpPr/>
          <p:nvPr/>
        </p:nvSpPr>
        <p:spPr>
          <a:xfrm>
            <a:off x="914400" y="3337560"/>
            <a:ext cx="3108960" cy="141732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4400" y="3337560"/>
            <a:ext cx="82296" cy="1417320"/>
          </a:xfrm>
          <a:prstGeom prst="rect">
            <a:avLst/>
          </a:prstGeom>
          <a:solidFill>
            <a:srgbClr val="1F5E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15568" y="3465576"/>
            <a:ext cx="2761488" cy="329184"/>
          </a:xfrm>
          <a:prstGeom prst="rect">
            <a:avLst/>
          </a:prstGeom>
          <a:noFill/>
        </p:spPr>
        <p:txBody>
          <a:bodyPr wrap="square" lIns="54864" rIns="45720" tIns="27432" bIns="27432">
            <a:spAutoFit/>
          </a:bodyPr>
          <a:lstStyle/>
          <a:p>
            <a:r>
              <a:rPr sz="1600" b="1">
                <a:solidFill>
                  <a:srgbClr val="102444"/>
                </a:solidFill>
                <a:latin typeface="Aptos"/>
              </a:rPr>
              <a:t>Evidence storage</a:t>
            </a:r>
          </a:p>
        </p:txBody>
      </p:sp>
      <p:sp>
        <p:nvSpPr>
          <p:cNvPr id="28" name="TextBox 27"/>
          <p:cNvSpPr txBox="1"/>
          <p:nvPr/>
        </p:nvSpPr>
        <p:spPr>
          <a:xfrm>
            <a:off x="1115568" y="3867911"/>
            <a:ext cx="2743200" cy="795528"/>
          </a:xfrm>
          <a:prstGeom prst="rect">
            <a:avLst/>
          </a:prstGeom>
          <a:noFill/>
        </p:spPr>
        <p:txBody>
          <a:bodyPr wrap="square" lIns="54864" rIns="45720" tIns="27432" bIns="27432">
            <a:spAutoFit/>
          </a:bodyPr>
          <a:lstStyle/>
          <a:p>
            <a:r>
              <a:rPr sz="1300" b="0">
                <a:solidFill>
                  <a:srgbClr val="232F3E"/>
                </a:solidFill>
                <a:latin typeface="Aptos"/>
              </a:rPr>
              <a:t>Original file + checksum + timestamp + source reference</a:t>
            </a:r>
          </a:p>
        </p:txBody>
      </p:sp>
      <p:sp>
        <p:nvSpPr>
          <p:cNvPr id="29" name="Rounded Rectangle 28"/>
          <p:cNvSpPr/>
          <p:nvPr/>
        </p:nvSpPr>
        <p:spPr>
          <a:xfrm>
            <a:off x="4526280" y="3337560"/>
            <a:ext cx="3108960" cy="141732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26280" y="3337560"/>
            <a:ext cx="82296" cy="1417320"/>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27448" y="3465576"/>
            <a:ext cx="2761488" cy="329184"/>
          </a:xfrm>
          <a:prstGeom prst="rect">
            <a:avLst/>
          </a:prstGeom>
          <a:noFill/>
        </p:spPr>
        <p:txBody>
          <a:bodyPr wrap="square" lIns="54864" rIns="45720" tIns="27432" bIns="27432">
            <a:spAutoFit/>
          </a:bodyPr>
          <a:lstStyle/>
          <a:p>
            <a:r>
              <a:rPr sz="1600" b="1">
                <a:solidFill>
                  <a:srgbClr val="102444"/>
                </a:solidFill>
                <a:latin typeface="Aptos"/>
              </a:rPr>
              <a:t>Rules / matching engine</a:t>
            </a:r>
          </a:p>
        </p:txBody>
      </p:sp>
      <p:sp>
        <p:nvSpPr>
          <p:cNvPr id="32" name="TextBox 31"/>
          <p:cNvSpPr txBox="1"/>
          <p:nvPr/>
        </p:nvSpPr>
        <p:spPr>
          <a:xfrm>
            <a:off x="4727448" y="3867911"/>
            <a:ext cx="2743200" cy="795528"/>
          </a:xfrm>
          <a:prstGeom prst="rect">
            <a:avLst/>
          </a:prstGeom>
          <a:noFill/>
        </p:spPr>
        <p:txBody>
          <a:bodyPr wrap="square" lIns="54864" rIns="45720" tIns="27432" bIns="27432">
            <a:spAutoFit/>
          </a:bodyPr>
          <a:lstStyle/>
          <a:p>
            <a:r>
              <a:rPr sz="1300" b="0">
                <a:solidFill>
                  <a:srgbClr val="232F3E"/>
                </a:solidFill>
                <a:latin typeface="Aptos"/>
              </a:rPr>
              <a:t>Identifier format • product category • scope/status match</a:t>
            </a:r>
          </a:p>
        </p:txBody>
      </p:sp>
      <p:sp>
        <p:nvSpPr>
          <p:cNvPr id="33" name="Rounded Rectangle 32"/>
          <p:cNvSpPr/>
          <p:nvPr/>
        </p:nvSpPr>
        <p:spPr>
          <a:xfrm>
            <a:off x="8138160" y="3337560"/>
            <a:ext cx="3108960" cy="141732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38160" y="3337560"/>
            <a:ext cx="82296" cy="1417320"/>
          </a:xfrm>
          <a:prstGeom prst="rect">
            <a:avLst/>
          </a:prstGeom>
          <a:solidFill>
            <a:srgbClr val="278E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39328" y="3465576"/>
            <a:ext cx="2761488" cy="329184"/>
          </a:xfrm>
          <a:prstGeom prst="rect">
            <a:avLst/>
          </a:prstGeom>
          <a:noFill/>
        </p:spPr>
        <p:txBody>
          <a:bodyPr wrap="square" lIns="54864" rIns="45720" tIns="27432" bIns="27432">
            <a:spAutoFit/>
          </a:bodyPr>
          <a:lstStyle/>
          <a:p>
            <a:r>
              <a:rPr sz="1600" b="1">
                <a:solidFill>
                  <a:srgbClr val="102444"/>
                </a:solidFill>
                <a:latin typeface="Aptos"/>
              </a:rPr>
              <a:t>Reviewer console</a:t>
            </a:r>
          </a:p>
        </p:txBody>
      </p:sp>
      <p:sp>
        <p:nvSpPr>
          <p:cNvPr id="36" name="TextBox 35"/>
          <p:cNvSpPr txBox="1"/>
          <p:nvPr/>
        </p:nvSpPr>
        <p:spPr>
          <a:xfrm>
            <a:off x="8339328" y="3867911"/>
            <a:ext cx="2743200" cy="795528"/>
          </a:xfrm>
          <a:prstGeom prst="rect">
            <a:avLst/>
          </a:prstGeom>
          <a:noFill/>
        </p:spPr>
        <p:txBody>
          <a:bodyPr wrap="square" lIns="54864" rIns="45720" tIns="27432" bIns="27432">
            <a:spAutoFit/>
          </a:bodyPr>
          <a:lstStyle/>
          <a:p>
            <a:r>
              <a:rPr sz="1300" b="0">
                <a:solidFill>
                  <a:srgbClr val="232F3E"/>
                </a:solidFill>
                <a:latin typeface="Aptos"/>
              </a:rPr>
              <a:t>Confirm / dismiss / request info • reason code • export</a:t>
            </a:r>
          </a:p>
        </p:txBody>
      </p:sp>
      <p:sp>
        <p:nvSpPr>
          <p:cNvPr id="37" name="TextBox 36"/>
          <p:cNvSpPr txBox="1"/>
          <p:nvPr/>
        </p:nvSpPr>
        <p:spPr>
          <a:xfrm>
            <a:off x="777240" y="5349240"/>
            <a:ext cx="10789920" cy="548640"/>
          </a:xfrm>
          <a:prstGeom prst="rect">
            <a:avLst/>
          </a:prstGeom>
          <a:noFill/>
        </p:spPr>
        <p:txBody>
          <a:bodyPr wrap="square" lIns="54864" rIns="45720" tIns="27432" bIns="27432">
            <a:spAutoFit/>
          </a:bodyPr>
          <a:lstStyle/>
          <a:p>
            <a:r>
              <a:rPr sz="1400" b="0">
                <a:solidFill>
                  <a:srgbClr val="647382"/>
                </a:solidFill>
                <a:latin typeface="Aptos"/>
              </a:rPr>
              <a:t>Prototype stack: Python + Streamlit, FastAPI/Flask, OCR, OpenCV, SQLite/CSV initially. Use synthetic/demo records until official data access is approved.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7. AI and rule components</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Choose tools that can be demonstrated in a short hackathon</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9</a:t>
            </a:r>
          </a:p>
        </p:txBody>
      </p:sp>
      <p:sp>
        <p:nvSpPr>
          <p:cNvPr id="6" name="Rounded Rectangle 5"/>
          <p:cNvSpPr/>
          <p:nvPr/>
        </p:nvSpPr>
        <p:spPr>
          <a:xfrm>
            <a:off x="640080" y="1508760"/>
            <a:ext cx="3520440" cy="155448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08760"/>
            <a:ext cx="82296" cy="1554480"/>
          </a:xfrm>
          <a:prstGeom prst="rect">
            <a:avLst/>
          </a:prstGeom>
          <a:solidFill>
            <a:srgbClr val="1F5E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636776"/>
            <a:ext cx="3172968" cy="329184"/>
          </a:xfrm>
          <a:prstGeom prst="rect">
            <a:avLst/>
          </a:prstGeom>
          <a:noFill/>
        </p:spPr>
        <p:txBody>
          <a:bodyPr wrap="square" lIns="54864" rIns="45720" tIns="27432" bIns="27432">
            <a:spAutoFit/>
          </a:bodyPr>
          <a:lstStyle/>
          <a:p>
            <a:r>
              <a:rPr sz="1600" b="1">
                <a:solidFill>
                  <a:srgbClr val="102444"/>
                </a:solidFill>
                <a:latin typeface="Aptos"/>
              </a:rPr>
              <a:t>OCR</a:t>
            </a:r>
          </a:p>
        </p:txBody>
      </p:sp>
      <p:sp>
        <p:nvSpPr>
          <p:cNvPr id="9" name="TextBox 8"/>
          <p:cNvSpPr txBox="1"/>
          <p:nvPr/>
        </p:nvSpPr>
        <p:spPr>
          <a:xfrm>
            <a:off x="841247" y="2039112"/>
            <a:ext cx="3154680" cy="932688"/>
          </a:xfrm>
          <a:prstGeom prst="rect">
            <a:avLst/>
          </a:prstGeom>
          <a:noFill/>
        </p:spPr>
        <p:txBody>
          <a:bodyPr wrap="square" lIns="54864" rIns="45720" tIns="27432" bIns="27432">
            <a:spAutoFit/>
          </a:bodyPr>
          <a:lstStyle/>
          <a:p>
            <a:r>
              <a:rPr sz="1300" b="0">
                <a:solidFill>
                  <a:srgbClr val="232F3E"/>
                </a:solidFill>
                <a:latin typeface="Aptos"/>
              </a:rPr>
              <a:t>Read licence numbers, product labels and conformity claims. Return text plus confidence and bounding boxes.</a:t>
            </a:r>
          </a:p>
        </p:txBody>
      </p:sp>
      <p:sp>
        <p:nvSpPr>
          <p:cNvPr id="10" name="Rounded Rectangle 9"/>
          <p:cNvSpPr/>
          <p:nvPr/>
        </p:nvSpPr>
        <p:spPr>
          <a:xfrm>
            <a:off x="4343400" y="1508760"/>
            <a:ext cx="3520440" cy="155448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508760"/>
            <a:ext cx="82296" cy="1554480"/>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636776"/>
            <a:ext cx="3172968" cy="329184"/>
          </a:xfrm>
          <a:prstGeom prst="rect">
            <a:avLst/>
          </a:prstGeom>
          <a:noFill/>
        </p:spPr>
        <p:txBody>
          <a:bodyPr wrap="square" lIns="54864" rIns="45720" tIns="27432" bIns="27432">
            <a:spAutoFit/>
          </a:bodyPr>
          <a:lstStyle/>
          <a:p>
            <a:r>
              <a:rPr sz="1600" b="1">
                <a:solidFill>
                  <a:srgbClr val="102444"/>
                </a:solidFill>
                <a:latin typeface="Aptos"/>
              </a:rPr>
              <a:t>Visual detection</a:t>
            </a:r>
          </a:p>
        </p:txBody>
      </p:sp>
      <p:sp>
        <p:nvSpPr>
          <p:cNvPr id="13" name="TextBox 12"/>
          <p:cNvSpPr txBox="1"/>
          <p:nvPr/>
        </p:nvSpPr>
        <p:spPr>
          <a:xfrm>
            <a:off x="4544568" y="2039112"/>
            <a:ext cx="3154680" cy="932688"/>
          </a:xfrm>
          <a:prstGeom prst="rect">
            <a:avLst/>
          </a:prstGeom>
          <a:noFill/>
        </p:spPr>
        <p:txBody>
          <a:bodyPr wrap="square" lIns="54864" rIns="45720" tIns="27432" bIns="27432">
            <a:spAutoFit/>
          </a:bodyPr>
          <a:lstStyle/>
          <a:p>
            <a:r>
              <a:rPr sz="1300" b="0">
                <a:solidFill>
                  <a:srgbClr val="232F3E"/>
                </a:solidFill>
                <a:latin typeface="Aptos"/>
              </a:rPr>
              <a:t>Find likely mark/logo regions and crop them. Start with template matching / image embeddings; train a detector only if labelled data exists.</a:t>
            </a:r>
          </a:p>
        </p:txBody>
      </p:sp>
      <p:sp>
        <p:nvSpPr>
          <p:cNvPr id="14" name="Rounded Rectangle 13"/>
          <p:cNvSpPr/>
          <p:nvPr/>
        </p:nvSpPr>
        <p:spPr>
          <a:xfrm>
            <a:off x="8046720" y="1508760"/>
            <a:ext cx="3520440" cy="155448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508760"/>
            <a:ext cx="82296" cy="1554480"/>
          </a:xfrm>
          <a:prstGeom prst="rect">
            <a:avLst/>
          </a:prstGeom>
          <a:solidFill>
            <a:srgbClr val="EB9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636776"/>
            <a:ext cx="3172968" cy="329184"/>
          </a:xfrm>
          <a:prstGeom prst="rect">
            <a:avLst/>
          </a:prstGeom>
          <a:noFill/>
        </p:spPr>
        <p:txBody>
          <a:bodyPr wrap="square" lIns="54864" rIns="45720" tIns="27432" bIns="27432">
            <a:spAutoFit/>
          </a:bodyPr>
          <a:lstStyle/>
          <a:p>
            <a:r>
              <a:rPr sz="1600" b="1">
                <a:solidFill>
                  <a:srgbClr val="102444"/>
                </a:solidFill>
                <a:latin typeface="Aptos"/>
              </a:rPr>
              <a:t>Text classification</a:t>
            </a:r>
          </a:p>
        </p:txBody>
      </p:sp>
      <p:sp>
        <p:nvSpPr>
          <p:cNvPr id="17" name="TextBox 16"/>
          <p:cNvSpPr txBox="1"/>
          <p:nvPr/>
        </p:nvSpPr>
        <p:spPr>
          <a:xfrm>
            <a:off x="8247888" y="2039112"/>
            <a:ext cx="3154680" cy="932688"/>
          </a:xfrm>
          <a:prstGeom prst="rect">
            <a:avLst/>
          </a:prstGeom>
          <a:noFill/>
        </p:spPr>
        <p:txBody>
          <a:bodyPr wrap="square" lIns="54864" rIns="45720" tIns="27432" bIns="27432">
            <a:spAutoFit/>
          </a:bodyPr>
          <a:lstStyle/>
          <a:p>
            <a:r>
              <a:rPr sz="1300" b="0">
                <a:solidFill>
                  <a:srgbClr val="232F3E"/>
                </a:solidFill>
                <a:latin typeface="Aptos"/>
              </a:rPr>
              <a:t>Detect phrases such as “BIS certified” and “ISI mark” using explainable keyword/rule patterns before adding ML.</a:t>
            </a:r>
          </a:p>
        </p:txBody>
      </p:sp>
      <p:sp>
        <p:nvSpPr>
          <p:cNvPr id="18" name="Rounded Rectangle 17"/>
          <p:cNvSpPr/>
          <p:nvPr/>
        </p:nvSpPr>
        <p:spPr>
          <a:xfrm>
            <a:off x="640080" y="3429000"/>
            <a:ext cx="3520440" cy="155448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3429000"/>
            <a:ext cx="82296" cy="1554480"/>
          </a:xfrm>
          <a:prstGeom prst="rect">
            <a:avLst/>
          </a:prstGeom>
          <a:solidFill>
            <a:srgbClr val="278E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7" y="3557016"/>
            <a:ext cx="3172968" cy="329184"/>
          </a:xfrm>
          <a:prstGeom prst="rect">
            <a:avLst/>
          </a:prstGeom>
          <a:noFill/>
        </p:spPr>
        <p:txBody>
          <a:bodyPr wrap="square" lIns="54864" rIns="45720" tIns="27432" bIns="27432">
            <a:spAutoFit/>
          </a:bodyPr>
          <a:lstStyle/>
          <a:p>
            <a:r>
              <a:rPr sz="1600" b="1">
                <a:solidFill>
                  <a:srgbClr val="102444"/>
                </a:solidFill>
                <a:latin typeface="Aptos"/>
              </a:rPr>
              <a:t>Entity extraction</a:t>
            </a:r>
          </a:p>
        </p:txBody>
      </p:sp>
      <p:sp>
        <p:nvSpPr>
          <p:cNvPr id="21" name="TextBox 20"/>
          <p:cNvSpPr txBox="1"/>
          <p:nvPr/>
        </p:nvSpPr>
        <p:spPr>
          <a:xfrm>
            <a:off x="841247" y="3959352"/>
            <a:ext cx="3154680" cy="932688"/>
          </a:xfrm>
          <a:prstGeom prst="rect">
            <a:avLst/>
          </a:prstGeom>
          <a:noFill/>
        </p:spPr>
        <p:txBody>
          <a:bodyPr wrap="square" lIns="54864" rIns="45720" tIns="27432" bIns="27432">
            <a:spAutoFit/>
          </a:bodyPr>
          <a:lstStyle/>
          <a:p>
            <a:r>
              <a:rPr sz="1300" b="0">
                <a:solidFill>
                  <a:srgbClr val="232F3E"/>
                </a:solidFill>
                <a:latin typeface="Aptos"/>
              </a:rPr>
              <a:t>Extract manufacturer, brand, model, product category and identifier candidates.</a:t>
            </a:r>
          </a:p>
        </p:txBody>
      </p:sp>
      <p:sp>
        <p:nvSpPr>
          <p:cNvPr id="22" name="Rounded Rectangle 21"/>
          <p:cNvSpPr/>
          <p:nvPr/>
        </p:nvSpPr>
        <p:spPr>
          <a:xfrm>
            <a:off x="4343400" y="3429000"/>
            <a:ext cx="3520440" cy="155448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43400" y="3429000"/>
            <a:ext cx="82296" cy="1554480"/>
          </a:xfrm>
          <a:prstGeom prst="rect">
            <a:avLst/>
          </a:prstGeom>
          <a:solidFill>
            <a:srgbClr val="1F5E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44568" y="3557016"/>
            <a:ext cx="3172968" cy="329184"/>
          </a:xfrm>
          <a:prstGeom prst="rect">
            <a:avLst/>
          </a:prstGeom>
          <a:noFill/>
        </p:spPr>
        <p:txBody>
          <a:bodyPr wrap="square" lIns="54864" rIns="45720" tIns="27432" bIns="27432">
            <a:spAutoFit/>
          </a:bodyPr>
          <a:lstStyle/>
          <a:p>
            <a:r>
              <a:rPr sz="1600" b="1">
                <a:solidFill>
                  <a:srgbClr val="102444"/>
                </a:solidFill>
                <a:latin typeface="Aptos"/>
              </a:rPr>
              <a:t>Record matching</a:t>
            </a:r>
          </a:p>
        </p:txBody>
      </p:sp>
      <p:sp>
        <p:nvSpPr>
          <p:cNvPr id="25" name="TextBox 24"/>
          <p:cNvSpPr txBox="1"/>
          <p:nvPr/>
        </p:nvSpPr>
        <p:spPr>
          <a:xfrm>
            <a:off x="4544568" y="3959352"/>
            <a:ext cx="3154680" cy="932688"/>
          </a:xfrm>
          <a:prstGeom prst="rect">
            <a:avLst/>
          </a:prstGeom>
          <a:noFill/>
        </p:spPr>
        <p:txBody>
          <a:bodyPr wrap="square" lIns="54864" rIns="45720" tIns="27432" bIns="27432">
            <a:spAutoFit/>
          </a:bodyPr>
          <a:lstStyle/>
          <a:p>
            <a:r>
              <a:rPr sz="1300" b="0">
                <a:solidFill>
                  <a:srgbClr val="232F3E"/>
                </a:solidFill>
                <a:latin typeface="Aptos"/>
              </a:rPr>
              <a:t>Compare identifiers and product scope against verified reference data; log match quality and data freshness.</a:t>
            </a:r>
          </a:p>
        </p:txBody>
      </p:sp>
      <p:sp>
        <p:nvSpPr>
          <p:cNvPr id="26" name="Rounded Rectangle 25"/>
          <p:cNvSpPr/>
          <p:nvPr/>
        </p:nvSpPr>
        <p:spPr>
          <a:xfrm>
            <a:off x="8046720" y="3429000"/>
            <a:ext cx="3520440" cy="155448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46720" y="3429000"/>
            <a:ext cx="82296" cy="1554480"/>
          </a:xfrm>
          <a:prstGeom prst="rect">
            <a:avLst/>
          </a:prstGeom>
          <a:solidFill>
            <a:srgbClr val="BE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47888" y="3557016"/>
            <a:ext cx="3172968" cy="329184"/>
          </a:xfrm>
          <a:prstGeom prst="rect">
            <a:avLst/>
          </a:prstGeom>
          <a:noFill/>
        </p:spPr>
        <p:txBody>
          <a:bodyPr wrap="square" lIns="54864" rIns="45720" tIns="27432" bIns="27432">
            <a:spAutoFit/>
          </a:bodyPr>
          <a:lstStyle/>
          <a:p>
            <a:r>
              <a:rPr sz="1600" b="1">
                <a:solidFill>
                  <a:srgbClr val="102444"/>
                </a:solidFill>
                <a:latin typeface="Aptos"/>
              </a:rPr>
              <a:t>Risk scoring</a:t>
            </a:r>
          </a:p>
        </p:txBody>
      </p:sp>
      <p:sp>
        <p:nvSpPr>
          <p:cNvPr id="29" name="TextBox 28"/>
          <p:cNvSpPr txBox="1"/>
          <p:nvPr/>
        </p:nvSpPr>
        <p:spPr>
          <a:xfrm>
            <a:off x="8247888" y="3959352"/>
            <a:ext cx="3154680" cy="932688"/>
          </a:xfrm>
          <a:prstGeom prst="rect">
            <a:avLst/>
          </a:prstGeom>
          <a:noFill/>
        </p:spPr>
        <p:txBody>
          <a:bodyPr wrap="square" lIns="54864" rIns="45720" tIns="27432" bIns="27432">
            <a:spAutoFit/>
          </a:bodyPr>
          <a:lstStyle/>
          <a:p>
            <a:r>
              <a:rPr sz="1300" b="0">
                <a:solidFill>
                  <a:srgbClr val="232F3E"/>
                </a:solidFill>
                <a:latin typeface="Aptos"/>
              </a:rPr>
              <a:t>Combine transparent signals and show each reason separately instead of a mysterious score.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8. End-to-end workflow</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From raw evidence to reviewer decision</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10</a:t>
            </a:r>
          </a:p>
        </p:txBody>
      </p:sp>
      <p:sp>
        <p:nvSpPr>
          <p:cNvPr id="6" name="TextBox 5"/>
          <p:cNvSpPr txBox="1"/>
          <p:nvPr/>
        </p:nvSpPr>
        <p:spPr>
          <a:xfrm>
            <a:off x="713232" y="1508760"/>
            <a:ext cx="10789920" cy="4663440"/>
          </a:xfrm>
          <a:prstGeom prst="rect">
            <a:avLst/>
          </a:prstGeom>
          <a:noFill/>
        </p:spPr>
        <p:txBody>
          <a:bodyPr wrap="square" lIns="73152" rIns="45720">
            <a:spAutoFit/>
          </a:bodyPr>
          <a:lstStyle/>
          <a:p>
            <a:pPr>
              <a:spcAft>
                <a:spcPts val="1000"/>
              </a:spcAft>
              <a:defRPr sz="1600">
                <a:solidFill>
                  <a:srgbClr val="232F3E"/>
                </a:solidFill>
                <a:latin typeface="Aptos"/>
              </a:defRPr>
            </a:pPr>
            <a:r>
              <a:t>•  1) Submit: upload image or enter a public listing URL; validate file type and size.</a:t>
            </a:r>
          </a:p>
          <a:p>
            <a:pPr>
              <a:spcAft>
                <a:spcPts val="1000"/>
              </a:spcAft>
              <a:defRPr sz="1600">
                <a:solidFill>
                  <a:srgbClr val="232F3E"/>
                </a:solidFill>
                <a:latin typeface="Aptos"/>
              </a:defRPr>
            </a:pPr>
            <a:r>
              <a:t>•  2) Preserve: store original evidence, source details, timestamp and SHA-256 hash.</a:t>
            </a:r>
          </a:p>
          <a:p>
            <a:pPr>
              <a:spcAft>
                <a:spcPts val="1000"/>
              </a:spcAft>
              <a:defRPr sz="1600">
                <a:solidFill>
                  <a:srgbClr val="232F3E"/>
                </a:solidFill>
                <a:latin typeface="Aptos"/>
              </a:defRPr>
            </a:pPr>
            <a:r>
              <a:t>•  3) Pre-process: resize, improve contrast, deskew and create OCR-friendly crops without replacing the original.</a:t>
            </a:r>
          </a:p>
          <a:p>
            <a:pPr>
              <a:spcAft>
                <a:spcPts val="1000"/>
              </a:spcAft>
              <a:defRPr sz="1600">
                <a:solidFill>
                  <a:srgbClr val="232F3E"/>
                </a:solidFill>
                <a:latin typeface="Aptos"/>
              </a:defRPr>
            </a:pPr>
            <a:r>
              <a:t>•  4) Extract: OCR text and candidate IDs; detect possible mark region; parse product, seller and model details.</a:t>
            </a:r>
          </a:p>
          <a:p>
            <a:pPr>
              <a:spcAft>
                <a:spcPts val="1000"/>
              </a:spcAft>
              <a:defRPr sz="1600">
                <a:solidFill>
                  <a:srgbClr val="232F3E"/>
                </a:solidFill>
                <a:latin typeface="Aptos"/>
              </a:defRPr>
            </a:pPr>
            <a:r>
              <a:t>•  5) Verify: check identifier syntax, status, dates and product scope against the latest approved reference source.</a:t>
            </a:r>
          </a:p>
          <a:p>
            <a:pPr>
              <a:spcAft>
                <a:spcPts val="1000"/>
              </a:spcAft>
              <a:defRPr sz="1600">
                <a:solidFill>
                  <a:srgbClr val="232F3E"/>
                </a:solidFill>
                <a:latin typeface="Aptos"/>
              </a:defRPr>
            </a:pPr>
            <a:r>
              <a:t>•  6) Assess: apply transparent rules; generate risk level and reasons, not a guilt verdict.</a:t>
            </a:r>
          </a:p>
          <a:p>
            <a:pPr>
              <a:spcAft>
                <a:spcPts val="1000"/>
              </a:spcAft>
              <a:defRPr sz="1600">
                <a:solidFill>
                  <a:srgbClr val="232F3E"/>
                </a:solidFill>
                <a:latin typeface="Aptos"/>
              </a:defRPr>
            </a:pPr>
            <a:r>
              <a:t>•  7) Review: reviewer inspects evidence and confirms, dismisses or requests more information.</a:t>
            </a:r>
          </a:p>
          <a:p>
            <a:pPr>
              <a:spcAft>
                <a:spcPts val="1000"/>
              </a:spcAft>
              <a:defRPr sz="1600">
                <a:solidFill>
                  <a:srgbClr val="232F3E"/>
                </a:solidFill>
                <a:latin typeface="Aptos"/>
              </a:defRPr>
            </a:pPr>
            <a:r>
              <a:t>•  8) Close: record decision, reason code, reviewer, time, follow-up and audit history.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9. Data model and case record</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Store enough to reproduce the result and explain the flag</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11</a:t>
            </a:r>
          </a:p>
        </p:txBody>
      </p:sp>
      <p:sp>
        <p:nvSpPr>
          <p:cNvPr id="6" name="Rounded Rectangle 5"/>
          <p:cNvSpPr/>
          <p:nvPr/>
        </p:nvSpPr>
        <p:spPr>
          <a:xfrm>
            <a:off x="640080" y="1463040"/>
            <a:ext cx="3520440" cy="182880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63040"/>
            <a:ext cx="82296" cy="1828800"/>
          </a:xfrm>
          <a:prstGeom prst="rect">
            <a:avLst/>
          </a:prstGeom>
          <a:solidFill>
            <a:srgbClr val="1F5E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591056"/>
            <a:ext cx="3172968" cy="329184"/>
          </a:xfrm>
          <a:prstGeom prst="rect">
            <a:avLst/>
          </a:prstGeom>
          <a:noFill/>
        </p:spPr>
        <p:txBody>
          <a:bodyPr wrap="square" lIns="54864" rIns="45720" tIns="27432" bIns="27432">
            <a:spAutoFit/>
          </a:bodyPr>
          <a:lstStyle/>
          <a:p>
            <a:r>
              <a:rPr sz="1600" b="1">
                <a:solidFill>
                  <a:srgbClr val="102444"/>
                </a:solidFill>
                <a:latin typeface="Aptos"/>
              </a:rPr>
              <a:t>Case fields</a:t>
            </a:r>
          </a:p>
        </p:txBody>
      </p:sp>
      <p:sp>
        <p:nvSpPr>
          <p:cNvPr id="9" name="TextBox 8"/>
          <p:cNvSpPr txBox="1"/>
          <p:nvPr/>
        </p:nvSpPr>
        <p:spPr>
          <a:xfrm>
            <a:off x="841247" y="1993392"/>
            <a:ext cx="3154680" cy="1207007"/>
          </a:xfrm>
          <a:prstGeom prst="rect">
            <a:avLst/>
          </a:prstGeom>
          <a:noFill/>
        </p:spPr>
        <p:txBody>
          <a:bodyPr wrap="square" lIns="54864" rIns="45720" tIns="27432" bIns="27432">
            <a:spAutoFit/>
          </a:bodyPr>
          <a:lstStyle/>
          <a:p>
            <a:r>
              <a:rPr sz="1300" b="0">
                <a:solidFill>
                  <a:srgbClr val="232F3E"/>
                </a:solidFill>
                <a:latin typeface="Aptos"/>
              </a:rPr>
              <a:t>case_id • source_type • source_url • captured_at • submitted_by • status • reviewer_id</a:t>
            </a:r>
          </a:p>
        </p:txBody>
      </p:sp>
      <p:sp>
        <p:nvSpPr>
          <p:cNvPr id="10" name="Rounded Rectangle 9"/>
          <p:cNvSpPr/>
          <p:nvPr/>
        </p:nvSpPr>
        <p:spPr>
          <a:xfrm>
            <a:off x="4343400" y="1463040"/>
            <a:ext cx="3520440" cy="182880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463040"/>
            <a:ext cx="82296" cy="1828800"/>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591056"/>
            <a:ext cx="3172968" cy="329184"/>
          </a:xfrm>
          <a:prstGeom prst="rect">
            <a:avLst/>
          </a:prstGeom>
          <a:noFill/>
        </p:spPr>
        <p:txBody>
          <a:bodyPr wrap="square" lIns="54864" rIns="45720" tIns="27432" bIns="27432">
            <a:spAutoFit/>
          </a:bodyPr>
          <a:lstStyle/>
          <a:p>
            <a:r>
              <a:rPr sz="1600" b="1">
                <a:solidFill>
                  <a:srgbClr val="102444"/>
                </a:solidFill>
                <a:latin typeface="Aptos"/>
              </a:rPr>
              <a:t>Extracted fields</a:t>
            </a:r>
          </a:p>
        </p:txBody>
      </p:sp>
      <p:sp>
        <p:nvSpPr>
          <p:cNvPr id="13" name="TextBox 12"/>
          <p:cNvSpPr txBox="1"/>
          <p:nvPr/>
        </p:nvSpPr>
        <p:spPr>
          <a:xfrm>
            <a:off x="4544568" y="1993392"/>
            <a:ext cx="3154680" cy="1207007"/>
          </a:xfrm>
          <a:prstGeom prst="rect">
            <a:avLst/>
          </a:prstGeom>
          <a:noFill/>
        </p:spPr>
        <p:txBody>
          <a:bodyPr wrap="square" lIns="54864" rIns="45720" tIns="27432" bIns="27432">
            <a:spAutoFit/>
          </a:bodyPr>
          <a:lstStyle/>
          <a:p>
            <a:r>
              <a:rPr sz="1300" b="0">
                <a:solidFill>
                  <a:srgbClr val="232F3E"/>
                </a:solidFill>
                <a:latin typeface="Aptos"/>
              </a:rPr>
              <a:t>OCR text • candidate ID • mark bounding box • brand • model • category • seller • confidence</a:t>
            </a:r>
          </a:p>
        </p:txBody>
      </p:sp>
      <p:sp>
        <p:nvSpPr>
          <p:cNvPr id="14" name="Rounded Rectangle 13"/>
          <p:cNvSpPr/>
          <p:nvPr/>
        </p:nvSpPr>
        <p:spPr>
          <a:xfrm>
            <a:off x="8046720" y="1463040"/>
            <a:ext cx="3520440" cy="182880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463040"/>
            <a:ext cx="82296" cy="1828800"/>
          </a:xfrm>
          <a:prstGeom prst="rect">
            <a:avLst/>
          </a:prstGeom>
          <a:solidFill>
            <a:srgbClr val="278E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591056"/>
            <a:ext cx="3172968" cy="329184"/>
          </a:xfrm>
          <a:prstGeom prst="rect">
            <a:avLst/>
          </a:prstGeom>
          <a:noFill/>
        </p:spPr>
        <p:txBody>
          <a:bodyPr wrap="square" lIns="54864" rIns="45720" tIns="27432" bIns="27432">
            <a:spAutoFit/>
          </a:bodyPr>
          <a:lstStyle/>
          <a:p>
            <a:r>
              <a:rPr sz="1600" b="1">
                <a:solidFill>
                  <a:srgbClr val="102444"/>
                </a:solidFill>
                <a:latin typeface="Aptos"/>
              </a:rPr>
              <a:t>Verification fields</a:t>
            </a:r>
          </a:p>
        </p:txBody>
      </p:sp>
      <p:sp>
        <p:nvSpPr>
          <p:cNvPr id="17" name="TextBox 16"/>
          <p:cNvSpPr txBox="1"/>
          <p:nvPr/>
        </p:nvSpPr>
        <p:spPr>
          <a:xfrm>
            <a:off x="8247888" y="1993392"/>
            <a:ext cx="3154680" cy="1207007"/>
          </a:xfrm>
          <a:prstGeom prst="rect">
            <a:avLst/>
          </a:prstGeom>
          <a:noFill/>
        </p:spPr>
        <p:txBody>
          <a:bodyPr wrap="square" lIns="54864" rIns="45720" tIns="27432" bIns="27432">
            <a:spAutoFit/>
          </a:bodyPr>
          <a:lstStyle/>
          <a:p>
            <a:r>
              <a:rPr sz="1300" b="0">
                <a:solidFill>
                  <a:srgbClr val="232F3E"/>
                </a:solidFill>
                <a:latin typeface="Aptos"/>
              </a:rPr>
              <a:t>reference source • checked_at • status • scope match • effective dates • lookup result</a:t>
            </a:r>
          </a:p>
        </p:txBody>
      </p:sp>
      <p:sp>
        <p:nvSpPr>
          <p:cNvPr id="18" name="TextBox 17"/>
          <p:cNvSpPr txBox="1"/>
          <p:nvPr/>
        </p:nvSpPr>
        <p:spPr>
          <a:xfrm>
            <a:off x="777240" y="3886200"/>
            <a:ext cx="10515600" cy="1645920"/>
          </a:xfrm>
          <a:prstGeom prst="rect">
            <a:avLst/>
          </a:prstGeom>
          <a:noFill/>
        </p:spPr>
        <p:txBody>
          <a:bodyPr wrap="square" lIns="73152" rIns="45720">
            <a:spAutoFit/>
          </a:bodyPr>
          <a:lstStyle/>
          <a:p>
            <a:pPr>
              <a:spcAft>
                <a:spcPts val="700"/>
              </a:spcAft>
              <a:defRPr sz="1600">
                <a:solidFill>
                  <a:srgbClr val="232F3E"/>
                </a:solidFill>
                <a:latin typeface="Aptos"/>
              </a:defRPr>
            </a:pPr>
            <a:r>
              <a:t>•  Evidence: original file, derivative crops, cryptographic hash and provenance.</a:t>
            </a:r>
          </a:p>
          <a:p>
            <a:pPr>
              <a:spcAft>
                <a:spcPts val="700"/>
              </a:spcAft>
              <a:defRPr sz="1600">
                <a:solidFill>
                  <a:srgbClr val="232F3E"/>
                </a:solidFill>
                <a:latin typeface="Aptos"/>
              </a:defRPr>
            </a:pPr>
            <a:r>
              <a:t>•  Decision: risk score, reason codes, reviewer outcome, notes and escalation status.</a:t>
            </a:r>
          </a:p>
          <a:p>
            <a:pPr>
              <a:spcAft>
                <a:spcPts val="700"/>
              </a:spcAft>
              <a:defRPr sz="1600">
                <a:solidFill>
                  <a:srgbClr val="232F3E"/>
                </a:solidFill>
                <a:latin typeface="Aptos"/>
              </a:defRPr>
            </a:pPr>
            <a:r>
              <a:t>•  Use role-based access, encryption, retention rules and redaction for personal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10. Transparent risk scoring</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Example scoring logic for triage only; calibrate with reviewer feedback</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12</a:t>
            </a:r>
          </a:p>
        </p:txBody>
      </p:sp>
      <p:sp>
        <p:nvSpPr>
          <p:cNvPr id="6" name="TextBox 5"/>
          <p:cNvSpPr txBox="1"/>
          <p:nvPr/>
        </p:nvSpPr>
        <p:spPr>
          <a:xfrm>
            <a:off x="731520" y="1417320"/>
            <a:ext cx="10698480" cy="411480"/>
          </a:xfrm>
          <a:prstGeom prst="rect">
            <a:avLst/>
          </a:prstGeom>
          <a:noFill/>
        </p:spPr>
        <p:txBody>
          <a:bodyPr wrap="square" lIns="54864" rIns="45720" tIns="27432" bIns="27432">
            <a:spAutoFit/>
          </a:bodyPr>
          <a:lstStyle/>
          <a:p>
            <a:r>
              <a:rPr sz="1800" b="1">
                <a:solidFill>
                  <a:srgbClr val="102444"/>
                </a:solidFill>
                <a:latin typeface="Aptos"/>
              </a:rPr>
              <a:t>Illustrative score = weighted sum of independent, explainable signals (0–100).</a:t>
            </a:r>
          </a:p>
        </p:txBody>
      </p:sp>
      <p:graphicFrame>
        <p:nvGraphicFramePr>
          <p:cNvPr id="7" name="Table 6"/>
          <p:cNvGraphicFramePr>
            <a:graphicFrameLocks noGrp="1"/>
          </p:cNvGraphicFramePr>
          <p:nvPr/>
        </p:nvGraphicFramePr>
        <p:xfrm>
          <a:off x="731520" y="1965960"/>
          <a:ext cx="10698480" cy="3337560"/>
        </p:xfrm>
        <a:graphic>
          <a:graphicData uri="http://schemas.openxmlformats.org/drawingml/2006/table">
            <a:tbl>
              <a:tblPr firstRow="1" bandRow="1">
                <a:tableStyleId>{5C22544A-7EE6-4342-B048-85BDC9FD1C3A}</a:tableStyleId>
              </a:tblPr>
              <a:tblGrid>
                <a:gridCol w="2743200"/>
                <a:gridCol w="1554480"/>
                <a:gridCol w="6400800"/>
              </a:tblGrid>
              <a:tr h="556260">
                <a:tc>
                  <a:txBody>
                    <a:bodyPr/>
                    <a:lstStyle/>
                    <a:p>
                      <a:pPr>
                        <a:defRPr sz="1400" b="1">
                          <a:solidFill>
                            <a:srgbClr val="FFFFFF"/>
                          </a:solidFill>
                          <a:latin typeface="Aptos"/>
                        </a:defRPr>
                      </a:pPr>
                      <a:r>
                        <a:t>Signal</a:t>
                      </a:r>
                    </a:p>
                  </a:txBody>
                  <a:tcPr marL="73152" marR="45720">
                    <a:solidFill>
                      <a:srgbClr val="102444"/>
                    </a:solidFill>
                  </a:tcPr>
                </a:tc>
                <a:tc>
                  <a:txBody>
                    <a:bodyPr/>
                    <a:lstStyle/>
                    <a:p>
                      <a:pPr>
                        <a:defRPr sz="1400" b="1">
                          <a:solidFill>
                            <a:srgbClr val="FFFFFF"/>
                          </a:solidFill>
                          <a:latin typeface="Aptos"/>
                        </a:defRPr>
                      </a:pPr>
                      <a:r>
                        <a:t>Example points</a:t>
                      </a:r>
                    </a:p>
                  </a:txBody>
                  <a:tcPr marL="73152" marR="45720">
                    <a:solidFill>
                      <a:srgbClr val="102444"/>
                    </a:solidFill>
                  </a:tcPr>
                </a:tc>
                <a:tc>
                  <a:txBody>
                    <a:bodyPr/>
                    <a:lstStyle/>
                    <a:p>
                      <a:pPr>
                        <a:defRPr sz="1400" b="1">
                          <a:solidFill>
                            <a:srgbClr val="FFFFFF"/>
                          </a:solidFill>
                          <a:latin typeface="Aptos"/>
                        </a:defRPr>
                      </a:pPr>
                      <a:r>
                        <a:t>Why it matters</a:t>
                      </a:r>
                    </a:p>
                  </a:txBody>
                  <a:tcPr marL="73152" marR="45720">
                    <a:solidFill>
                      <a:srgbClr val="102444"/>
                    </a:solidFill>
                  </a:tcPr>
                </a:tc>
              </a:tr>
              <a:tr h="556260">
                <a:tc>
                  <a:txBody>
                    <a:bodyPr/>
                    <a:lstStyle/>
                    <a:p>
                      <a:pPr>
                        <a:defRPr sz="1300" b="0">
                          <a:solidFill>
                            <a:srgbClr val="232F3E"/>
                          </a:solidFill>
                          <a:latin typeface="Aptos"/>
                        </a:defRPr>
                      </a:pPr>
                      <a:r>
                        <a:t>Official lookup mismatch</a:t>
                      </a:r>
                    </a:p>
                  </a:txBody>
                  <a:tcPr marL="73152" marR="45720">
                    <a:solidFill>
                      <a:srgbClr val="EEF5FB"/>
                    </a:solidFill>
                  </a:tcPr>
                </a:tc>
                <a:tc>
                  <a:txBody>
                    <a:bodyPr/>
                    <a:lstStyle/>
                    <a:p>
                      <a:pPr>
                        <a:defRPr sz="1300" b="0">
                          <a:solidFill>
                            <a:srgbClr val="232F3E"/>
                          </a:solidFill>
                          <a:latin typeface="Aptos"/>
                        </a:defRPr>
                      </a:pPr>
                      <a:r>
                        <a:t>0–35</a:t>
                      </a:r>
                    </a:p>
                  </a:txBody>
                  <a:tcPr marL="73152" marR="45720">
                    <a:solidFill>
                      <a:srgbClr val="EEF5FB"/>
                    </a:solidFill>
                  </a:tcPr>
                </a:tc>
                <a:tc>
                  <a:txBody>
                    <a:bodyPr/>
                    <a:lstStyle/>
                    <a:p>
                      <a:pPr>
                        <a:defRPr sz="1300" b="0">
                          <a:solidFill>
                            <a:srgbClr val="232F3E"/>
                          </a:solidFill>
                          <a:latin typeface="Aptos"/>
                        </a:defRPr>
                      </a:pPr>
                      <a:r>
                        <a:t>Candidate ID does not match product / scope</a:t>
                      </a:r>
                    </a:p>
                  </a:txBody>
                  <a:tcPr marL="73152" marR="45720">
                    <a:solidFill>
                      <a:srgbClr val="EEF5FB"/>
                    </a:solidFill>
                  </a:tcPr>
                </a:tc>
              </a:tr>
              <a:tr h="556260">
                <a:tc>
                  <a:txBody>
                    <a:bodyPr/>
                    <a:lstStyle/>
                    <a:p>
                      <a:pPr>
                        <a:defRPr sz="1300" b="0">
                          <a:solidFill>
                            <a:srgbClr val="232F3E"/>
                          </a:solidFill>
                          <a:latin typeface="Aptos"/>
                        </a:defRPr>
                      </a:pPr>
                      <a:r>
                        <a:t>Strong misleading wording</a:t>
                      </a:r>
                    </a:p>
                  </a:txBody>
                  <a:tcPr marL="73152" marR="45720">
                    <a:solidFill>
                      <a:srgbClr val="FFFFFF"/>
                    </a:solidFill>
                  </a:tcPr>
                </a:tc>
                <a:tc>
                  <a:txBody>
                    <a:bodyPr/>
                    <a:lstStyle/>
                    <a:p>
                      <a:pPr>
                        <a:defRPr sz="1300" b="0">
                          <a:solidFill>
                            <a:srgbClr val="232F3E"/>
                          </a:solidFill>
                          <a:latin typeface="Aptos"/>
                        </a:defRPr>
                      </a:pPr>
                      <a:r>
                        <a:t>0–20</a:t>
                      </a:r>
                    </a:p>
                  </a:txBody>
                  <a:tcPr marL="73152" marR="45720">
                    <a:solidFill>
                      <a:srgbClr val="FFFFFF"/>
                    </a:solidFill>
                  </a:tcPr>
                </a:tc>
                <a:tc>
                  <a:txBody>
                    <a:bodyPr/>
                    <a:lstStyle/>
                    <a:p>
                      <a:pPr>
                        <a:defRPr sz="1300" b="0">
                          <a:solidFill>
                            <a:srgbClr val="232F3E"/>
                          </a:solidFill>
                          <a:latin typeface="Aptos"/>
                        </a:defRPr>
                      </a:pPr>
                      <a:r>
                        <a:t>Claim text may overstate conformity</a:t>
                      </a:r>
                    </a:p>
                  </a:txBody>
                  <a:tcPr marL="73152" marR="45720">
                    <a:solidFill>
                      <a:srgbClr val="FFFFFF"/>
                    </a:solidFill>
                  </a:tcPr>
                </a:tc>
              </a:tr>
              <a:tr h="556260">
                <a:tc>
                  <a:txBody>
                    <a:bodyPr/>
                    <a:lstStyle/>
                    <a:p>
                      <a:pPr>
                        <a:defRPr sz="1300" b="0">
                          <a:solidFill>
                            <a:srgbClr val="232F3E"/>
                          </a:solidFill>
                          <a:latin typeface="Aptos"/>
                        </a:defRPr>
                      </a:pPr>
                      <a:r>
                        <a:t>Visual anomaly</a:t>
                      </a:r>
                    </a:p>
                  </a:txBody>
                  <a:tcPr marL="73152" marR="45720">
                    <a:solidFill>
                      <a:srgbClr val="EEF5FB"/>
                    </a:solidFill>
                  </a:tcPr>
                </a:tc>
                <a:tc>
                  <a:txBody>
                    <a:bodyPr/>
                    <a:lstStyle/>
                    <a:p>
                      <a:pPr>
                        <a:defRPr sz="1300" b="0">
                          <a:solidFill>
                            <a:srgbClr val="232F3E"/>
                          </a:solidFill>
                          <a:latin typeface="Aptos"/>
                        </a:defRPr>
                      </a:pPr>
                      <a:r>
                        <a:t>0–15</a:t>
                      </a:r>
                    </a:p>
                  </a:txBody>
                  <a:tcPr marL="73152" marR="45720">
                    <a:solidFill>
                      <a:srgbClr val="EEF5FB"/>
                    </a:solidFill>
                  </a:tcPr>
                </a:tc>
                <a:tc>
                  <a:txBody>
                    <a:bodyPr/>
                    <a:lstStyle/>
                    <a:p>
                      <a:pPr>
                        <a:defRPr sz="1300" b="0">
                          <a:solidFill>
                            <a:srgbClr val="232F3E"/>
                          </a:solidFill>
                          <a:latin typeface="Aptos"/>
                        </a:defRPr>
                      </a:pPr>
                      <a:r>
                        <a:t>Mark appearance differs from reference</a:t>
                      </a:r>
                    </a:p>
                  </a:txBody>
                  <a:tcPr marL="73152" marR="45720">
                    <a:solidFill>
                      <a:srgbClr val="EEF5FB"/>
                    </a:solidFill>
                  </a:tcPr>
                </a:tc>
              </a:tr>
              <a:tr h="556260">
                <a:tc>
                  <a:txBody>
                    <a:bodyPr/>
                    <a:lstStyle/>
                    <a:p>
                      <a:pPr>
                        <a:defRPr sz="1300" b="0">
                          <a:solidFill>
                            <a:srgbClr val="232F3E"/>
                          </a:solidFill>
                          <a:latin typeface="Aptos"/>
                        </a:defRPr>
                      </a:pPr>
                      <a:r>
                        <a:t>Repeated pattern</a:t>
                      </a:r>
                    </a:p>
                  </a:txBody>
                  <a:tcPr marL="73152" marR="45720">
                    <a:solidFill>
                      <a:srgbClr val="FFFFFF"/>
                    </a:solidFill>
                  </a:tcPr>
                </a:tc>
                <a:tc>
                  <a:txBody>
                    <a:bodyPr/>
                    <a:lstStyle/>
                    <a:p>
                      <a:pPr>
                        <a:defRPr sz="1300" b="0">
                          <a:solidFill>
                            <a:srgbClr val="232F3E"/>
                          </a:solidFill>
                          <a:latin typeface="Aptos"/>
                        </a:defRPr>
                      </a:pPr>
                      <a:r>
                        <a:t>0–15</a:t>
                      </a:r>
                    </a:p>
                  </a:txBody>
                  <a:tcPr marL="73152" marR="45720">
                    <a:solidFill>
                      <a:srgbClr val="FFFFFF"/>
                    </a:solidFill>
                  </a:tcPr>
                </a:tc>
                <a:tc>
                  <a:txBody>
                    <a:bodyPr/>
                    <a:lstStyle/>
                    <a:p>
                      <a:pPr>
                        <a:defRPr sz="1300" b="0">
                          <a:solidFill>
                            <a:srgbClr val="232F3E"/>
                          </a:solidFill>
                          <a:latin typeface="Aptos"/>
                        </a:defRPr>
                      </a:pPr>
                      <a:r>
                        <a:t>Similar claim appears across unrelated items</a:t>
                      </a:r>
                    </a:p>
                  </a:txBody>
                  <a:tcPr marL="73152" marR="45720">
                    <a:solidFill>
                      <a:srgbClr val="FFFFFF"/>
                    </a:solidFill>
                  </a:tcPr>
                </a:tc>
              </a:tr>
              <a:tr h="556260">
                <a:tc>
                  <a:txBody>
                    <a:bodyPr/>
                    <a:lstStyle/>
                    <a:p>
                      <a:pPr>
                        <a:defRPr sz="1300" b="0">
                          <a:solidFill>
                            <a:srgbClr val="232F3E"/>
                          </a:solidFill>
                          <a:latin typeface="Aptos"/>
                        </a:defRPr>
                      </a:pPr>
                      <a:r>
                        <a:t>Evidence strength</a:t>
                      </a:r>
                    </a:p>
                  </a:txBody>
                  <a:tcPr marL="73152" marR="45720">
                    <a:solidFill>
                      <a:srgbClr val="EEF5FB"/>
                    </a:solidFill>
                  </a:tcPr>
                </a:tc>
                <a:tc>
                  <a:txBody>
                    <a:bodyPr/>
                    <a:lstStyle/>
                    <a:p>
                      <a:pPr>
                        <a:defRPr sz="1300" b="0">
                          <a:solidFill>
                            <a:srgbClr val="232F3E"/>
                          </a:solidFill>
                          <a:latin typeface="Aptos"/>
                        </a:defRPr>
                      </a:pPr>
                      <a:r>
                        <a:t>0–15</a:t>
                      </a:r>
                    </a:p>
                  </a:txBody>
                  <a:tcPr marL="73152" marR="45720">
                    <a:solidFill>
                      <a:srgbClr val="EEF5FB"/>
                    </a:solidFill>
                  </a:tcPr>
                </a:tc>
                <a:tc>
                  <a:txBody>
                    <a:bodyPr/>
                    <a:lstStyle/>
                    <a:p>
                      <a:pPr>
                        <a:defRPr sz="1300" b="0">
                          <a:solidFill>
                            <a:srgbClr val="232F3E"/>
                          </a:solidFill>
                          <a:latin typeface="Aptos"/>
                        </a:defRPr>
                      </a:pPr>
                      <a:r>
                        <a:t>Readable ID, clear source and usable image</a:t>
                      </a:r>
                    </a:p>
                  </a:txBody>
                  <a:tcPr marL="73152" marR="45720">
                    <a:solidFill>
                      <a:srgbClr val="EEF5FB"/>
                    </a:solidFill>
                  </a:tcPr>
                </a:tc>
              </a:tr>
            </a:tbl>
          </a:graphicData>
        </a:graphic>
      </p:graphicFrame>
      <p:sp>
        <p:nvSpPr>
          <p:cNvPr id="8" name="TextBox 7"/>
          <p:cNvSpPr txBox="1"/>
          <p:nvPr/>
        </p:nvSpPr>
        <p:spPr>
          <a:xfrm>
            <a:off x="777240" y="5532120"/>
            <a:ext cx="10515600" cy="548640"/>
          </a:xfrm>
          <a:prstGeom prst="rect">
            <a:avLst/>
          </a:prstGeom>
          <a:noFill/>
        </p:spPr>
        <p:txBody>
          <a:bodyPr wrap="square" lIns="54864" rIns="45720" tIns="27432" bIns="27432">
            <a:spAutoFit/>
          </a:bodyPr>
          <a:lstStyle/>
          <a:p>
            <a:r>
              <a:rPr sz="1300" b="0">
                <a:solidFill>
                  <a:srgbClr val="647382"/>
                </a:solidFill>
                <a:latin typeface="Aptos"/>
              </a:rPr>
              <a:t>Suggested bands: 0–29 low, 30–59 medium, 60–100 high. Thresholds are placeholders, not BIS policy. Evidence quality affects confidence, not proof of misconduct.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11. How the system substantiates a flag</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A good alert must answer “what, where, why, and how sure?”</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13</a:t>
            </a:r>
          </a:p>
        </p:txBody>
      </p:sp>
      <p:sp>
        <p:nvSpPr>
          <p:cNvPr id="6" name="Rounded Rectangle 5"/>
          <p:cNvSpPr/>
          <p:nvPr/>
        </p:nvSpPr>
        <p:spPr>
          <a:xfrm>
            <a:off x="640080" y="1508760"/>
            <a:ext cx="3520440" cy="164592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08760"/>
            <a:ext cx="82296" cy="1645920"/>
          </a:xfrm>
          <a:prstGeom prst="rect">
            <a:avLst/>
          </a:prstGeom>
          <a:solidFill>
            <a:srgbClr val="1F5E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636776"/>
            <a:ext cx="3172968" cy="329184"/>
          </a:xfrm>
          <a:prstGeom prst="rect">
            <a:avLst/>
          </a:prstGeom>
          <a:noFill/>
        </p:spPr>
        <p:txBody>
          <a:bodyPr wrap="square" lIns="54864" rIns="45720" tIns="27432" bIns="27432">
            <a:spAutoFit/>
          </a:bodyPr>
          <a:lstStyle/>
          <a:p>
            <a:r>
              <a:rPr sz="1600" b="1">
                <a:solidFill>
                  <a:srgbClr val="102444"/>
                </a:solidFill>
                <a:latin typeface="Aptos"/>
              </a:rPr>
              <a:t>WHAT was claimed?</a:t>
            </a:r>
          </a:p>
        </p:txBody>
      </p:sp>
      <p:sp>
        <p:nvSpPr>
          <p:cNvPr id="9" name="TextBox 8"/>
          <p:cNvSpPr txBox="1"/>
          <p:nvPr/>
        </p:nvSpPr>
        <p:spPr>
          <a:xfrm>
            <a:off x="841247" y="2039112"/>
            <a:ext cx="3154680" cy="1024128"/>
          </a:xfrm>
          <a:prstGeom prst="rect">
            <a:avLst/>
          </a:prstGeom>
          <a:noFill/>
        </p:spPr>
        <p:txBody>
          <a:bodyPr wrap="square" lIns="54864" rIns="45720" tIns="27432" bIns="27432">
            <a:spAutoFit/>
          </a:bodyPr>
          <a:lstStyle/>
          <a:p>
            <a:r>
              <a:rPr sz="1400" b="0">
                <a:solidFill>
                  <a:srgbClr val="232F3E"/>
                </a:solidFill>
                <a:latin typeface="Aptos"/>
              </a:rPr>
              <a:t>Quote extracted words and show the exact detected mark / ID crop.</a:t>
            </a:r>
          </a:p>
        </p:txBody>
      </p:sp>
      <p:sp>
        <p:nvSpPr>
          <p:cNvPr id="10" name="Rounded Rectangle 9"/>
          <p:cNvSpPr/>
          <p:nvPr/>
        </p:nvSpPr>
        <p:spPr>
          <a:xfrm>
            <a:off x="4343400" y="1508760"/>
            <a:ext cx="3520440" cy="164592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508760"/>
            <a:ext cx="82296" cy="1645920"/>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636776"/>
            <a:ext cx="3172968" cy="329184"/>
          </a:xfrm>
          <a:prstGeom prst="rect">
            <a:avLst/>
          </a:prstGeom>
          <a:noFill/>
        </p:spPr>
        <p:txBody>
          <a:bodyPr wrap="square" lIns="54864" rIns="45720" tIns="27432" bIns="27432">
            <a:spAutoFit/>
          </a:bodyPr>
          <a:lstStyle/>
          <a:p>
            <a:r>
              <a:rPr sz="1600" b="1">
                <a:solidFill>
                  <a:srgbClr val="102444"/>
                </a:solidFill>
                <a:latin typeface="Aptos"/>
              </a:rPr>
              <a:t>WHERE was it found?</a:t>
            </a:r>
          </a:p>
        </p:txBody>
      </p:sp>
      <p:sp>
        <p:nvSpPr>
          <p:cNvPr id="13" name="TextBox 12"/>
          <p:cNvSpPr txBox="1"/>
          <p:nvPr/>
        </p:nvSpPr>
        <p:spPr>
          <a:xfrm>
            <a:off x="4544568" y="2039112"/>
            <a:ext cx="3154680" cy="1024128"/>
          </a:xfrm>
          <a:prstGeom prst="rect">
            <a:avLst/>
          </a:prstGeom>
          <a:noFill/>
        </p:spPr>
        <p:txBody>
          <a:bodyPr wrap="square" lIns="54864" rIns="45720" tIns="27432" bIns="27432">
            <a:spAutoFit/>
          </a:bodyPr>
          <a:lstStyle/>
          <a:p>
            <a:r>
              <a:rPr sz="1400" b="0">
                <a:solidFill>
                  <a:srgbClr val="232F3E"/>
                </a:solidFill>
                <a:latin typeface="Aptos"/>
              </a:rPr>
              <a:t>Source URL, page/listing ID, capture time, image hash and relevant region.</a:t>
            </a:r>
          </a:p>
        </p:txBody>
      </p:sp>
      <p:sp>
        <p:nvSpPr>
          <p:cNvPr id="14" name="Rounded Rectangle 13"/>
          <p:cNvSpPr/>
          <p:nvPr/>
        </p:nvSpPr>
        <p:spPr>
          <a:xfrm>
            <a:off x="8046720" y="1508760"/>
            <a:ext cx="3520440" cy="164592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508760"/>
            <a:ext cx="82296" cy="1645920"/>
          </a:xfrm>
          <a:prstGeom prst="rect">
            <a:avLst/>
          </a:prstGeom>
          <a:solidFill>
            <a:srgbClr val="EB9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636776"/>
            <a:ext cx="3172968" cy="329184"/>
          </a:xfrm>
          <a:prstGeom prst="rect">
            <a:avLst/>
          </a:prstGeom>
          <a:noFill/>
        </p:spPr>
        <p:txBody>
          <a:bodyPr wrap="square" lIns="54864" rIns="45720" tIns="27432" bIns="27432">
            <a:spAutoFit/>
          </a:bodyPr>
          <a:lstStyle/>
          <a:p>
            <a:r>
              <a:rPr sz="1600" b="1">
                <a:solidFill>
                  <a:srgbClr val="102444"/>
                </a:solidFill>
                <a:latin typeface="Aptos"/>
              </a:rPr>
              <a:t>WHY is it flagged?</a:t>
            </a:r>
          </a:p>
        </p:txBody>
      </p:sp>
      <p:sp>
        <p:nvSpPr>
          <p:cNvPr id="17" name="TextBox 16"/>
          <p:cNvSpPr txBox="1"/>
          <p:nvPr/>
        </p:nvSpPr>
        <p:spPr>
          <a:xfrm>
            <a:off x="8247888" y="2039112"/>
            <a:ext cx="3154680" cy="1024128"/>
          </a:xfrm>
          <a:prstGeom prst="rect">
            <a:avLst/>
          </a:prstGeom>
          <a:noFill/>
        </p:spPr>
        <p:txBody>
          <a:bodyPr wrap="square" lIns="54864" rIns="45720" tIns="27432" bIns="27432">
            <a:spAutoFit/>
          </a:bodyPr>
          <a:lstStyle/>
          <a:p>
            <a:r>
              <a:rPr sz="1400" b="0">
                <a:solidFill>
                  <a:srgbClr val="232F3E"/>
                </a:solidFill>
                <a:latin typeface="Aptos"/>
              </a:rPr>
              <a:t>State the specific rule, mismatch, missing verification or visual anomaly.</a:t>
            </a:r>
          </a:p>
        </p:txBody>
      </p:sp>
      <p:sp>
        <p:nvSpPr>
          <p:cNvPr id="18" name="TextBox 17"/>
          <p:cNvSpPr txBox="1"/>
          <p:nvPr/>
        </p:nvSpPr>
        <p:spPr>
          <a:xfrm>
            <a:off x="777240" y="3703320"/>
            <a:ext cx="10515600" cy="502920"/>
          </a:xfrm>
          <a:prstGeom prst="rect">
            <a:avLst/>
          </a:prstGeom>
          <a:noFill/>
        </p:spPr>
        <p:txBody>
          <a:bodyPr wrap="square" lIns="54864" rIns="45720" tIns="27432" bIns="27432">
            <a:spAutoFit/>
          </a:bodyPr>
          <a:lstStyle/>
          <a:p>
            <a:r>
              <a:rPr sz="1600" b="1">
                <a:solidFill>
                  <a:srgbClr val="102444"/>
                </a:solidFill>
                <a:latin typeface="Aptos"/>
              </a:rPr>
              <a:t>Example case narrative (synthetic):</a:t>
            </a:r>
          </a:p>
        </p:txBody>
      </p:sp>
      <p:sp>
        <p:nvSpPr>
          <p:cNvPr id="19" name="TextBox 18"/>
          <p:cNvSpPr txBox="1"/>
          <p:nvPr/>
        </p:nvSpPr>
        <p:spPr>
          <a:xfrm>
            <a:off x="822960" y="4251960"/>
            <a:ext cx="10424160" cy="1325880"/>
          </a:xfrm>
          <a:prstGeom prst="rect">
            <a:avLst/>
          </a:prstGeom>
          <a:noFill/>
        </p:spPr>
        <p:txBody>
          <a:bodyPr wrap="square" lIns="54864" rIns="45720" tIns="27432" bIns="27432">
            <a:spAutoFit/>
          </a:bodyPr>
          <a:lstStyle/>
          <a:p>
            <a:r>
              <a:rPr sz="1700" b="0">
                <a:solidFill>
                  <a:srgbClr val="232F3E"/>
                </a:solidFill>
                <a:latin typeface="Aptos"/>
              </a:rPr>
              <a:t>“The listing image contains a likely BIS/ISI-related mark and OCR extracted candidate ID X123. The approved demo reference data returned no matching product-scope record. Image clarity is medium. Flag: ‘unverified identifier / scope mismatch’. Human review required; no conclusion of unauthorised use has been made.”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12. Prototype UI / dashboard</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Minimum screens that make the solution easy to judge</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14</a:t>
            </a:r>
          </a:p>
        </p:txBody>
      </p:sp>
      <p:sp>
        <p:nvSpPr>
          <p:cNvPr id="6" name="Rounded Rectangle 5"/>
          <p:cNvSpPr/>
          <p:nvPr/>
        </p:nvSpPr>
        <p:spPr>
          <a:xfrm>
            <a:off x="594360" y="1508760"/>
            <a:ext cx="2743200" cy="150876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508760"/>
            <a:ext cx="82296" cy="1508760"/>
          </a:xfrm>
          <a:prstGeom prst="rect">
            <a:avLst/>
          </a:prstGeom>
          <a:solidFill>
            <a:srgbClr val="1F5E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636776"/>
            <a:ext cx="2395728" cy="329184"/>
          </a:xfrm>
          <a:prstGeom prst="rect">
            <a:avLst/>
          </a:prstGeom>
          <a:noFill/>
        </p:spPr>
        <p:txBody>
          <a:bodyPr wrap="square" lIns="54864" rIns="45720" tIns="27432" bIns="27432">
            <a:spAutoFit/>
          </a:bodyPr>
          <a:lstStyle/>
          <a:p>
            <a:r>
              <a:rPr sz="1600" b="1">
                <a:solidFill>
                  <a:srgbClr val="102444"/>
                </a:solidFill>
                <a:latin typeface="Aptos"/>
              </a:rPr>
              <a:t>1. Submit evidence</a:t>
            </a:r>
          </a:p>
        </p:txBody>
      </p:sp>
      <p:sp>
        <p:nvSpPr>
          <p:cNvPr id="9" name="TextBox 8"/>
          <p:cNvSpPr txBox="1"/>
          <p:nvPr/>
        </p:nvSpPr>
        <p:spPr>
          <a:xfrm>
            <a:off x="795528" y="2039112"/>
            <a:ext cx="2377440" cy="886967"/>
          </a:xfrm>
          <a:prstGeom prst="rect">
            <a:avLst/>
          </a:prstGeom>
          <a:noFill/>
        </p:spPr>
        <p:txBody>
          <a:bodyPr wrap="square" lIns="54864" rIns="45720" tIns="27432" bIns="27432">
            <a:spAutoFit/>
          </a:bodyPr>
          <a:lstStyle/>
          <a:p>
            <a:r>
              <a:rPr sz="1200" b="0">
                <a:solidFill>
                  <a:srgbClr val="232F3E"/>
                </a:solidFill>
                <a:latin typeface="Aptos"/>
              </a:rPr>
              <a:t>Upload image / paste listing URL / select source type</a:t>
            </a:r>
          </a:p>
        </p:txBody>
      </p:sp>
      <p:sp>
        <p:nvSpPr>
          <p:cNvPr id="10" name="Rounded Rectangle 9"/>
          <p:cNvSpPr/>
          <p:nvPr/>
        </p:nvSpPr>
        <p:spPr>
          <a:xfrm>
            <a:off x="3520440" y="1508760"/>
            <a:ext cx="2743200" cy="150876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20440" y="1508760"/>
            <a:ext cx="82296" cy="1508760"/>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21608" y="1636776"/>
            <a:ext cx="2395728" cy="329184"/>
          </a:xfrm>
          <a:prstGeom prst="rect">
            <a:avLst/>
          </a:prstGeom>
          <a:noFill/>
        </p:spPr>
        <p:txBody>
          <a:bodyPr wrap="square" lIns="54864" rIns="45720" tIns="27432" bIns="27432">
            <a:spAutoFit/>
          </a:bodyPr>
          <a:lstStyle/>
          <a:p>
            <a:r>
              <a:rPr sz="1600" b="1">
                <a:solidFill>
                  <a:srgbClr val="102444"/>
                </a:solidFill>
                <a:latin typeface="Aptos"/>
              </a:rPr>
              <a:t>2. Case queue</a:t>
            </a:r>
          </a:p>
        </p:txBody>
      </p:sp>
      <p:sp>
        <p:nvSpPr>
          <p:cNvPr id="13" name="TextBox 12"/>
          <p:cNvSpPr txBox="1"/>
          <p:nvPr/>
        </p:nvSpPr>
        <p:spPr>
          <a:xfrm>
            <a:off x="3721608" y="2039112"/>
            <a:ext cx="2377440" cy="886967"/>
          </a:xfrm>
          <a:prstGeom prst="rect">
            <a:avLst/>
          </a:prstGeom>
          <a:noFill/>
        </p:spPr>
        <p:txBody>
          <a:bodyPr wrap="square" lIns="54864" rIns="45720" tIns="27432" bIns="27432">
            <a:spAutoFit/>
          </a:bodyPr>
          <a:lstStyle/>
          <a:p>
            <a:r>
              <a:rPr sz="1200" b="0">
                <a:solidFill>
                  <a:srgbClr val="232F3E"/>
                </a:solidFill>
                <a:latin typeface="Aptos"/>
              </a:rPr>
              <a:t>Risk band, status, date, source, reason code</a:t>
            </a:r>
          </a:p>
        </p:txBody>
      </p:sp>
      <p:sp>
        <p:nvSpPr>
          <p:cNvPr id="14" name="Rounded Rectangle 13"/>
          <p:cNvSpPr/>
          <p:nvPr/>
        </p:nvSpPr>
        <p:spPr>
          <a:xfrm>
            <a:off x="6446520" y="1508760"/>
            <a:ext cx="2377440" cy="150876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46520" y="1508760"/>
            <a:ext cx="82296" cy="1508760"/>
          </a:xfrm>
          <a:prstGeom prst="rect">
            <a:avLst/>
          </a:prstGeom>
          <a:solidFill>
            <a:srgbClr val="EB9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47688" y="1636776"/>
            <a:ext cx="2029968" cy="329184"/>
          </a:xfrm>
          <a:prstGeom prst="rect">
            <a:avLst/>
          </a:prstGeom>
          <a:noFill/>
        </p:spPr>
        <p:txBody>
          <a:bodyPr wrap="square" lIns="54864" rIns="45720" tIns="27432" bIns="27432">
            <a:spAutoFit/>
          </a:bodyPr>
          <a:lstStyle/>
          <a:p>
            <a:r>
              <a:rPr sz="1600" b="1">
                <a:solidFill>
                  <a:srgbClr val="102444"/>
                </a:solidFill>
                <a:latin typeface="Aptos"/>
              </a:rPr>
              <a:t>3. Case detail</a:t>
            </a:r>
          </a:p>
        </p:txBody>
      </p:sp>
      <p:sp>
        <p:nvSpPr>
          <p:cNvPr id="17" name="TextBox 16"/>
          <p:cNvSpPr txBox="1"/>
          <p:nvPr/>
        </p:nvSpPr>
        <p:spPr>
          <a:xfrm>
            <a:off x="6647688" y="2039112"/>
            <a:ext cx="2011680" cy="886967"/>
          </a:xfrm>
          <a:prstGeom prst="rect">
            <a:avLst/>
          </a:prstGeom>
          <a:noFill/>
        </p:spPr>
        <p:txBody>
          <a:bodyPr wrap="square" lIns="54864" rIns="45720" tIns="27432" bIns="27432">
            <a:spAutoFit/>
          </a:bodyPr>
          <a:lstStyle/>
          <a:p>
            <a:r>
              <a:rPr sz="1200" b="0">
                <a:solidFill>
                  <a:srgbClr val="232F3E"/>
                </a:solidFill>
                <a:latin typeface="Aptos"/>
              </a:rPr>
              <a:t>Original image + crops + OCR + lookup result</a:t>
            </a:r>
          </a:p>
        </p:txBody>
      </p:sp>
      <p:sp>
        <p:nvSpPr>
          <p:cNvPr id="18" name="Rounded Rectangle 17"/>
          <p:cNvSpPr/>
          <p:nvPr/>
        </p:nvSpPr>
        <p:spPr>
          <a:xfrm>
            <a:off x="9006840" y="1508760"/>
            <a:ext cx="2560320" cy="150876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06840" y="1508760"/>
            <a:ext cx="82296" cy="1508760"/>
          </a:xfrm>
          <a:prstGeom prst="rect">
            <a:avLst/>
          </a:prstGeom>
          <a:solidFill>
            <a:srgbClr val="278E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8008" y="1636776"/>
            <a:ext cx="2212848" cy="329184"/>
          </a:xfrm>
          <a:prstGeom prst="rect">
            <a:avLst/>
          </a:prstGeom>
          <a:noFill/>
        </p:spPr>
        <p:txBody>
          <a:bodyPr wrap="square" lIns="54864" rIns="45720" tIns="27432" bIns="27432">
            <a:spAutoFit/>
          </a:bodyPr>
          <a:lstStyle/>
          <a:p>
            <a:r>
              <a:rPr sz="1600" b="1">
                <a:solidFill>
                  <a:srgbClr val="102444"/>
                </a:solidFill>
                <a:latin typeface="Aptos"/>
              </a:rPr>
              <a:t>4. Review action</a:t>
            </a:r>
          </a:p>
        </p:txBody>
      </p:sp>
      <p:sp>
        <p:nvSpPr>
          <p:cNvPr id="21" name="TextBox 20"/>
          <p:cNvSpPr txBox="1"/>
          <p:nvPr/>
        </p:nvSpPr>
        <p:spPr>
          <a:xfrm>
            <a:off x="9208008" y="2039112"/>
            <a:ext cx="2194560" cy="886967"/>
          </a:xfrm>
          <a:prstGeom prst="rect">
            <a:avLst/>
          </a:prstGeom>
          <a:noFill/>
        </p:spPr>
        <p:txBody>
          <a:bodyPr wrap="square" lIns="54864" rIns="45720" tIns="27432" bIns="27432">
            <a:spAutoFit/>
          </a:bodyPr>
          <a:lstStyle/>
          <a:p>
            <a:r>
              <a:rPr sz="1200" b="0">
                <a:solidFill>
                  <a:srgbClr val="232F3E"/>
                </a:solidFill>
                <a:latin typeface="Aptos"/>
              </a:rPr>
              <a:t>Confirm flag / dismiss / need more info</a:t>
            </a:r>
          </a:p>
        </p:txBody>
      </p:sp>
      <p:sp>
        <p:nvSpPr>
          <p:cNvPr id="22" name="TextBox 21"/>
          <p:cNvSpPr txBox="1"/>
          <p:nvPr/>
        </p:nvSpPr>
        <p:spPr>
          <a:xfrm>
            <a:off x="777240" y="3703320"/>
            <a:ext cx="10698480" cy="457200"/>
          </a:xfrm>
          <a:prstGeom prst="rect">
            <a:avLst/>
          </a:prstGeom>
          <a:noFill/>
        </p:spPr>
        <p:txBody>
          <a:bodyPr wrap="square" lIns="54864" rIns="45720" tIns="27432" bIns="27432">
            <a:spAutoFit/>
          </a:bodyPr>
          <a:lstStyle/>
          <a:p>
            <a:r>
              <a:rPr sz="1800" b="1">
                <a:solidFill>
                  <a:srgbClr val="102444"/>
                </a:solidFill>
                <a:latin typeface="Aptos"/>
              </a:rPr>
              <a:t>Recommended demo metrics</a:t>
            </a:r>
          </a:p>
        </p:txBody>
      </p:sp>
      <p:sp>
        <p:nvSpPr>
          <p:cNvPr id="23" name="TextBox 22"/>
          <p:cNvSpPr txBox="1"/>
          <p:nvPr/>
        </p:nvSpPr>
        <p:spPr>
          <a:xfrm>
            <a:off x="777240" y="4251960"/>
            <a:ext cx="10515600" cy="1463040"/>
          </a:xfrm>
          <a:prstGeom prst="rect">
            <a:avLst/>
          </a:prstGeom>
          <a:noFill/>
        </p:spPr>
        <p:txBody>
          <a:bodyPr wrap="square" lIns="73152" rIns="45720">
            <a:spAutoFit/>
          </a:bodyPr>
          <a:lstStyle/>
          <a:p>
            <a:pPr>
              <a:spcAft>
                <a:spcPts val="600"/>
              </a:spcAft>
              <a:defRPr sz="1500">
                <a:solidFill>
                  <a:srgbClr val="232F3E"/>
                </a:solidFill>
                <a:latin typeface="Aptos"/>
              </a:defRPr>
            </a:pPr>
            <a:r>
              <a:t>•  Items processed • OCR extraction success • high-priority leads • average processing time</a:t>
            </a:r>
          </a:p>
          <a:p>
            <a:pPr>
              <a:spcAft>
                <a:spcPts val="600"/>
              </a:spcAft>
              <a:defRPr sz="1500">
                <a:solidFill>
                  <a:srgbClr val="232F3E"/>
                </a:solidFill>
                <a:latin typeface="Aptos"/>
              </a:defRPr>
            </a:pPr>
            <a:r>
              <a:t>•  Precision of flags on a labelled test set • false-positive rate • reviewer agreement</a:t>
            </a:r>
          </a:p>
          <a:p>
            <a:pPr>
              <a:spcAft>
                <a:spcPts val="600"/>
              </a:spcAft>
              <a:defRPr sz="1500">
                <a:solidFill>
                  <a:srgbClr val="232F3E"/>
                </a:solidFill>
                <a:latin typeface="Aptos"/>
              </a:defRPr>
            </a:pPr>
            <a:r>
              <a:t>•  Never report accuracy or impact figures unless measured on a documented test set.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13. Dataset plan and labelling</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The quality of reference data is more important than a flashy model</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15</a:t>
            </a:r>
          </a:p>
        </p:txBody>
      </p:sp>
      <p:sp>
        <p:nvSpPr>
          <p:cNvPr id="6" name="TextBox 5"/>
          <p:cNvSpPr txBox="1"/>
          <p:nvPr/>
        </p:nvSpPr>
        <p:spPr>
          <a:xfrm>
            <a:off x="713232" y="1508760"/>
            <a:ext cx="10789920" cy="4663440"/>
          </a:xfrm>
          <a:prstGeom prst="rect">
            <a:avLst/>
          </a:prstGeom>
          <a:noFill/>
        </p:spPr>
        <p:txBody>
          <a:bodyPr wrap="square" lIns="73152" rIns="45720">
            <a:spAutoFit/>
          </a:bodyPr>
          <a:lstStyle/>
          <a:p>
            <a:pPr>
              <a:spcAft>
                <a:spcPts val="1000"/>
              </a:spcAft>
              <a:defRPr sz="1600">
                <a:solidFill>
                  <a:srgbClr val="232F3E"/>
                </a:solidFill>
                <a:latin typeface="Aptos"/>
              </a:defRPr>
            </a:pPr>
            <a:r>
              <a:t>•  Create a labelled dataset from permitted examples: legitimate mark, suspicious/altered-looking mark, text-only claim, no mark, unclear image.</a:t>
            </a:r>
          </a:p>
          <a:p>
            <a:pPr>
              <a:spcAft>
                <a:spcPts val="1000"/>
              </a:spcAft>
              <a:defRPr sz="1600">
                <a:solidFill>
                  <a:srgbClr val="232F3E"/>
                </a:solidFill>
                <a:latin typeface="Aptos"/>
              </a:defRPr>
            </a:pPr>
            <a:r>
              <a:t>•  Label each sample with source, product category, visible claim, candidate identifier, image quality and reviewer rationale.</a:t>
            </a:r>
          </a:p>
          <a:p>
            <a:pPr>
              <a:spcAft>
                <a:spcPts val="1000"/>
              </a:spcAft>
              <a:defRPr sz="1600">
                <a:solidFill>
                  <a:srgbClr val="232F3E"/>
                </a:solidFill>
                <a:latin typeface="Aptos"/>
              </a:defRPr>
            </a:pPr>
            <a:r>
              <a:t>•  Use official BIS material only according to its terms and purpose; never fabricate official authorisation records.</a:t>
            </a:r>
          </a:p>
          <a:p>
            <a:pPr>
              <a:spcAft>
                <a:spcPts val="1000"/>
              </a:spcAft>
              <a:defRPr sz="1600">
                <a:solidFill>
                  <a:srgbClr val="232F3E"/>
                </a:solidFill>
                <a:latin typeface="Aptos"/>
              </a:defRPr>
            </a:pPr>
            <a:r>
              <a:t>•  For a hackathon demo, use clearly labelled synthetic listings and a toy reference table. State clearly that it is not official BIS data.</a:t>
            </a:r>
          </a:p>
          <a:p>
            <a:pPr>
              <a:spcAft>
                <a:spcPts val="1000"/>
              </a:spcAft>
              <a:defRPr sz="1600">
                <a:solidFill>
                  <a:srgbClr val="232F3E"/>
                </a:solidFill>
                <a:latin typeface="Aptos"/>
              </a:defRPr>
            </a:pPr>
            <a:r>
              <a:t>•  Split training/testing by product or source—not just random near-duplicate images—to reduce data leakage.</a:t>
            </a:r>
          </a:p>
          <a:p>
            <a:pPr>
              <a:spcAft>
                <a:spcPts val="1000"/>
              </a:spcAft>
              <a:defRPr sz="1600">
                <a:solidFill>
                  <a:srgbClr val="232F3E"/>
                </a:solidFill>
                <a:latin typeface="Aptos"/>
              </a:defRPr>
            </a:pPr>
            <a:r>
              <a:t>•  Record class imbalance, unreadable images and uncertain labels; allow an ‘insufficient evidence’ label.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14. Evaluation plan</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Measure usefulness, not just model accuracy</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16</a:t>
            </a:r>
          </a:p>
        </p:txBody>
      </p:sp>
      <p:sp>
        <p:nvSpPr>
          <p:cNvPr id="6" name="Rounded Rectangle 5"/>
          <p:cNvSpPr/>
          <p:nvPr/>
        </p:nvSpPr>
        <p:spPr>
          <a:xfrm>
            <a:off x="640080" y="1508760"/>
            <a:ext cx="3520440" cy="150876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08760"/>
            <a:ext cx="82296" cy="1508760"/>
          </a:xfrm>
          <a:prstGeom prst="rect">
            <a:avLst/>
          </a:prstGeom>
          <a:solidFill>
            <a:srgbClr val="1F5E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636776"/>
            <a:ext cx="3172968" cy="329184"/>
          </a:xfrm>
          <a:prstGeom prst="rect">
            <a:avLst/>
          </a:prstGeom>
          <a:noFill/>
        </p:spPr>
        <p:txBody>
          <a:bodyPr wrap="square" lIns="54864" rIns="45720" tIns="27432" bIns="27432">
            <a:spAutoFit/>
          </a:bodyPr>
          <a:lstStyle/>
          <a:p>
            <a:r>
              <a:rPr sz="1600" b="1">
                <a:solidFill>
                  <a:srgbClr val="102444"/>
                </a:solidFill>
                <a:latin typeface="Aptos"/>
              </a:rPr>
              <a:t>Detection quality</a:t>
            </a:r>
          </a:p>
        </p:txBody>
      </p:sp>
      <p:sp>
        <p:nvSpPr>
          <p:cNvPr id="9" name="TextBox 8"/>
          <p:cNvSpPr txBox="1"/>
          <p:nvPr/>
        </p:nvSpPr>
        <p:spPr>
          <a:xfrm>
            <a:off x="841247" y="2039112"/>
            <a:ext cx="3154680" cy="886967"/>
          </a:xfrm>
          <a:prstGeom prst="rect">
            <a:avLst/>
          </a:prstGeom>
          <a:noFill/>
        </p:spPr>
        <p:txBody>
          <a:bodyPr wrap="square" lIns="54864" rIns="45720" tIns="27432" bIns="27432">
            <a:spAutoFit/>
          </a:bodyPr>
          <a:lstStyle/>
          <a:p>
            <a:r>
              <a:rPr sz="1300" b="0">
                <a:solidFill>
                  <a:srgbClr val="232F3E"/>
                </a:solidFill>
                <a:latin typeface="Aptos"/>
              </a:rPr>
              <a:t>Precision, recall, F1 for mark / claim detection; OCR character error rate.</a:t>
            </a:r>
          </a:p>
        </p:txBody>
      </p:sp>
      <p:sp>
        <p:nvSpPr>
          <p:cNvPr id="10" name="Rounded Rectangle 9"/>
          <p:cNvSpPr/>
          <p:nvPr/>
        </p:nvSpPr>
        <p:spPr>
          <a:xfrm>
            <a:off x="4343400" y="1508760"/>
            <a:ext cx="3520440" cy="150876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508760"/>
            <a:ext cx="82296" cy="1508760"/>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636776"/>
            <a:ext cx="3172968" cy="329184"/>
          </a:xfrm>
          <a:prstGeom prst="rect">
            <a:avLst/>
          </a:prstGeom>
          <a:noFill/>
        </p:spPr>
        <p:txBody>
          <a:bodyPr wrap="square" lIns="54864" rIns="45720" tIns="27432" bIns="27432">
            <a:spAutoFit/>
          </a:bodyPr>
          <a:lstStyle/>
          <a:p>
            <a:r>
              <a:rPr sz="1600" b="1">
                <a:solidFill>
                  <a:srgbClr val="102444"/>
                </a:solidFill>
                <a:latin typeface="Aptos"/>
              </a:rPr>
              <a:t>Triage usefulness</a:t>
            </a:r>
          </a:p>
        </p:txBody>
      </p:sp>
      <p:sp>
        <p:nvSpPr>
          <p:cNvPr id="13" name="TextBox 12"/>
          <p:cNvSpPr txBox="1"/>
          <p:nvPr/>
        </p:nvSpPr>
        <p:spPr>
          <a:xfrm>
            <a:off x="4544568" y="2039112"/>
            <a:ext cx="3154680" cy="886967"/>
          </a:xfrm>
          <a:prstGeom prst="rect">
            <a:avLst/>
          </a:prstGeom>
          <a:noFill/>
        </p:spPr>
        <p:txBody>
          <a:bodyPr wrap="square" lIns="54864" rIns="45720" tIns="27432" bIns="27432">
            <a:spAutoFit/>
          </a:bodyPr>
          <a:lstStyle/>
          <a:p>
            <a:r>
              <a:rPr sz="1300" b="0">
                <a:solidFill>
                  <a:srgbClr val="232F3E"/>
                </a:solidFill>
                <a:latin typeface="Aptos"/>
              </a:rPr>
              <a:t>Precision among top-ranked cases; reviewer time saved; useful-lead rate.</a:t>
            </a:r>
          </a:p>
        </p:txBody>
      </p:sp>
      <p:sp>
        <p:nvSpPr>
          <p:cNvPr id="14" name="Rounded Rectangle 13"/>
          <p:cNvSpPr/>
          <p:nvPr/>
        </p:nvSpPr>
        <p:spPr>
          <a:xfrm>
            <a:off x="8046720" y="1508760"/>
            <a:ext cx="3520440" cy="150876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508760"/>
            <a:ext cx="82296" cy="1508760"/>
          </a:xfrm>
          <a:prstGeom prst="rect">
            <a:avLst/>
          </a:prstGeom>
          <a:solidFill>
            <a:srgbClr val="278E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636776"/>
            <a:ext cx="3172968" cy="329184"/>
          </a:xfrm>
          <a:prstGeom prst="rect">
            <a:avLst/>
          </a:prstGeom>
          <a:noFill/>
        </p:spPr>
        <p:txBody>
          <a:bodyPr wrap="square" lIns="54864" rIns="45720" tIns="27432" bIns="27432">
            <a:spAutoFit/>
          </a:bodyPr>
          <a:lstStyle/>
          <a:p>
            <a:r>
              <a:rPr sz="1600" b="1">
                <a:solidFill>
                  <a:srgbClr val="102444"/>
                </a:solidFill>
                <a:latin typeface="Aptos"/>
              </a:rPr>
              <a:t>Reliability</a:t>
            </a:r>
          </a:p>
        </p:txBody>
      </p:sp>
      <p:sp>
        <p:nvSpPr>
          <p:cNvPr id="17" name="TextBox 16"/>
          <p:cNvSpPr txBox="1"/>
          <p:nvPr/>
        </p:nvSpPr>
        <p:spPr>
          <a:xfrm>
            <a:off x="8247888" y="2039112"/>
            <a:ext cx="3154680" cy="886967"/>
          </a:xfrm>
          <a:prstGeom prst="rect">
            <a:avLst/>
          </a:prstGeom>
          <a:noFill/>
        </p:spPr>
        <p:txBody>
          <a:bodyPr wrap="square" lIns="54864" rIns="45720" tIns="27432" bIns="27432">
            <a:spAutoFit/>
          </a:bodyPr>
          <a:lstStyle/>
          <a:p>
            <a:r>
              <a:rPr sz="1300" b="0">
                <a:solidFill>
                  <a:srgbClr val="232F3E"/>
                </a:solidFill>
                <a:latin typeface="Aptos"/>
              </a:rPr>
              <a:t>Performance by image quality, language, category and source type.</a:t>
            </a:r>
          </a:p>
        </p:txBody>
      </p:sp>
      <p:sp>
        <p:nvSpPr>
          <p:cNvPr id="18" name="TextBox 17"/>
          <p:cNvSpPr txBox="1"/>
          <p:nvPr/>
        </p:nvSpPr>
        <p:spPr>
          <a:xfrm>
            <a:off x="777240" y="3703320"/>
            <a:ext cx="10515600" cy="1737360"/>
          </a:xfrm>
          <a:prstGeom prst="rect">
            <a:avLst/>
          </a:prstGeom>
          <a:noFill/>
        </p:spPr>
        <p:txBody>
          <a:bodyPr wrap="square" lIns="73152" rIns="45720">
            <a:spAutoFit/>
          </a:bodyPr>
          <a:lstStyle/>
          <a:p>
            <a:pPr>
              <a:spcAft>
                <a:spcPts val="700"/>
              </a:spcAft>
              <a:defRPr sz="1600">
                <a:solidFill>
                  <a:srgbClr val="232F3E"/>
                </a:solidFill>
                <a:latin typeface="Aptos"/>
              </a:defRPr>
            </a:pPr>
            <a:r>
              <a:t>•  Use a held-out test set with independently checked labels.</a:t>
            </a:r>
          </a:p>
          <a:p>
            <a:pPr>
              <a:spcAft>
                <a:spcPts val="700"/>
              </a:spcAft>
              <a:defRPr sz="1600">
                <a:solidFill>
                  <a:srgbClr val="232F3E"/>
                </a:solidFill>
                <a:latin typeface="Aptos"/>
              </a:defRPr>
            </a:pPr>
            <a:r>
              <a:t>•  Review false positives and false negatives separately; missing or stale reference data is a system limitation.</a:t>
            </a:r>
          </a:p>
          <a:p>
            <a:pPr>
              <a:spcAft>
                <a:spcPts val="700"/>
              </a:spcAft>
              <a:defRPr sz="1600">
                <a:solidFill>
                  <a:srgbClr val="232F3E"/>
                </a:solidFill>
                <a:latin typeface="Aptos"/>
              </a:defRPr>
            </a:pPr>
            <a:r>
              <a:t>•  Track calibration: when the system says “high confidence”, how often is that correct?</a:t>
            </a:r>
          </a:p>
          <a:p>
            <a:pPr>
              <a:spcAft>
                <a:spcPts val="700"/>
              </a:spcAft>
              <a:defRPr sz="1600">
                <a:solidFill>
                  <a:srgbClr val="232F3E"/>
                </a:solidFill>
                <a:latin typeface="Aptos"/>
              </a:defRPr>
            </a:pPr>
            <a:r>
              <a:t>•  Report baseline vs improved results and include limitations.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15. Privacy, security and governance</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Trust is part of the solution</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17</a:t>
            </a:r>
          </a:p>
        </p:txBody>
      </p:sp>
      <p:sp>
        <p:nvSpPr>
          <p:cNvPr id="6" name="TextBox 5"/>
          <p:cNvSpPr txBox="1"/>
          <p:nvPr/>
        </p:nvSpPr>
        <p:spPr>
          <a:xfrm>
            <a:off x="713232" y="1508760"/>
            <a:ext cx="10789920" cy="4663440"/>
          </a:xfrm>
          <a:prstGeom prst="rect">
            <a:avLst/>
          </a:prstGeom>
          <a:noFill/>
        </p:spPr>
        <p:txBody>
          <a:bodyPr wrap="square" lIns="73152" rIns="45720">
            <a:spAutoFit/>
          </a:bodyPr>
          <a:lstStyle/>
          <a:p>
            <a:pPr>
              <a:spcAft>
                <a:spcPts val="1000"/>
              </a:spcAft>
              <a:defRPr sz="1700">
                <a:solidFill>
                  <a:srgbClr val="232F3E"/>
                </a:solidFill>
                <a:latin typeface="Aptos"/>
              </a:defRPr>
            </a:pPr>
            <a:r>
              <a:t>•  Collect only evidence needed for the case; redact personal phone numbers, faces or unrelated customer details where appropriate.</a:t>
            </a:r>
          </a:p>
          <a:p>
            <a:pPr>
              <a:spcAft>
                <a:spcPts val="1000"/>
              </a:spcAft>
              <a:defRPr sz="1700">
                <a:solidFill>
                  <a:srgbClr val="232F3E"/>
                </a:solidFill>
                <a:latin typeface="Aptos"/>
              </a:defRPr>
            </a:pPr>
            <a:r>
              <a:t>•  Role-based access: submitter, reviewer, supervisor and administrator have different permissions.</a:t>
            </a:r>
          </a:p>
          <a:p>
            <a:pPr>
              <a:spcAft>
                <a:spcPts val="1000"/>
              </a:spcAft>
              <a:defRPr sz="1700">
                <a:solidFill>
                  <a:srgbClr val="232F3E"/>
                </a:solidFill>
                <a:latin typeface="Aptos"/>
              </a:defRPr>
            </a:pPr>
            <a:r>
              <a:t>•  Encrypt data in transit and at rest; keep secrets outside source code.</a:t>
            </a:r>
          </a:p>
          <a:p>
            <a:pPr>
              <a:spcAft>
                <a:spcPts val="1000"/>
              </a:spcAft>
              <a:defRPr sz="1700">
                <a:solidFill>
                  <a:srgbClr val="232F3E"/>
                </a:solidFill>
                <a:latin typeface="Aptos"/>
              </a:defRPr>
            </a:pPr>
            <a:r>
              <a:t>•  Maintain audit events for upload, extraction, lookup, review and export.</a:t>
            </a:r>
          </a:p>
          <a:p>
            <a:pPr>
              <a:spcAft>
                <a:spcPts val="1000"/>
              </a:spcAft>
              <a:defRPr sz="1700">
                <a:solidFill>
                  <a:srgbClr val="232F3E"/>
                </a:solidFill>
                <a:latin typeface="Aptos"/>
              </a:defRPr>
            </a:pPr>
            <a:r>
              <a:t>•  Set retention and deletion rules; restrict exports and log access to sensitive cases.</a:t>
            </a:r>
          </a:p>
          <a:p>
            <a:pPr>
              <a:spcAft>
                <a:spcPts val="1000"/>
              </a:spcAft>
              <a:defRPr sz="1700">
                <a:solidFill>
                  <a:srgbClr val="232F3E"/>
                </a:solidFill>
                <a:latin typeface="Aptos"/>
              </a:defRPr>
            </a:pPr>
            <a:r>
              <a:t>•  Keep official reference data versioned with source, last-checked timestamp and permitted-use notes.</a:t>
            </a:r>
          </a:p>
          <a:p>
            <a:pPr>
              <a:spcAft>
                <a:spcPts val="1000"/>
              </a:spcAft>
              <a:defRPr sz="1700">
                <a:solidFill>
                  <a:srgbClr val="232F3E"/>
                </a:solidFill>
                <a:latin typeface="Aptos"/>
              </a:defRPr>
            </a:pPr>
            <a:r>
              <a:t>•  AI assists triage only; final determinations and enforcement decisions remain with authorised officials.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16. Risks and limitations</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Plan for failure modes and communicate them clearly</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18</a:t>
            </a:r>
          </a:p>
        </p:txBody>
      </p:sp>
      <p:sp>
        <p:nvSpPr>
          <p:cNvPr id="6" name="Rounded Rectangle 5"/>
          <p:cNvSpPr/>
          <p:nvPr/>
        </p:nvSpPr>
        <p:spPr>
          <a:xfrm>
            <a:off x="640080" y="1508760"/>
            <a:ext cx="3520440" cy="155448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08760"/>
            <a:ext cx="82296" cy="1554480"/>
          </a:xfrm>
          <a:prstGeom prst="rect">
            <a:avLst/>
          </a:prstGeom>
          <a:solidFill>
            <a:srgbClr val="EB9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636776"/>
            <a:ext cx="3172968" cy="329184"/>
          </a:xfrm>
          <a:prstGeom prst="rect">
            <a:avLst/>
          </a:prstGeom>
          <a:noFill/>
        </p:spPr>
        <p:txBody>
          <a:bodyPr wrap="square" lIns="54864" rIns="45720" tIns="27432" bIns="27432">
            <a:spAutoFit/>
          </a:bodyPr>
          <a:lstStyle/>
          <a:p>
            <a:r>
              <a:rPr sz="1600" b="1">
                <a:solidFill>
                  <a:srgbClr val="102444"/>
                </a:solidFill>
                <a:latin typeface="Aptos"/>
              </a:rPr>
              <a:t>OCR errors</a:t>
            </a:r>
          </a:p>
        </p:txBody>
      </p:sp>
      <p:sp>
        <p:nvSpPr>
          <p:cNvPr id="9" name="TextBox 8"/>
          <p:cNvSpPr txBox="1"/>
          <p:nvPr/>
        </p:nvSpPr>
        <p:spPr>
          <a:xfrm>
            <a:off x="841247" y="2039112"/>
            <a:ext cx="3154680" cy="932688"/>
          </a:xfrm>
          <a:prstGeom prst="rect">
            <a:avLst/>
          </a:prstGeom>
          <a:noFill/>
        </p:spPr>
        <p:txBody>
          <a:bodyPr wrap="square" lIns="54864" rIns="45720" tIns="27432" bIns="27432">
            <a:spAutoFit/>
          </a:bodyPr>
          <a:lstStyle/>
          <a:p>
            <a:r>
              <a:rPr sz="1300" b="0">
                <a:solidFill>
                  <a:srgbClr val="232F3E"/>
                </a:solidFill>
                <a:latin typeface="Aptos"/>
              </a:rPr>
              <a:t>Small, curved, reflective or multilingual text may be read incorrectly.</a:t>
            </a:r>
          </a:p>
        </p:txBody>
      </p:sp>
      <p:sp>
        <p:nvSpPr>
          <p:cNvPr id="10" name="Rounded Rectangle 9"/>
          <p:cNvSpPr/>
          <p:nvPr/>
        </p:nvSpPr>
        <p:spPr>
          <a:xfrm>
            <a:off x="4343400" y="1508760"/>
            <a:ext cx="3520440" cy="155448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508760"/>
            <a:ext cx="82296" cy="1554480"/>
          </a:xfrm>
          <a:prstGeom prst="rect">
            <a:avLst/>
          </a:prstGeom>
          <a:solidFill>
            <a:srgbClr val="BE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636776"/>
            <a:ext cx="3172968" cy="329184"/>
          </a:xfrm>
          <a:prstGeom prst="rect">
            <a:avLst/>
          </a:prstGeom>
          <a:noFill/>
        </p:spPr>
        <p:txBody>
          <a:bodyPr wrap="square" lIns="54864" rIns="45720" tIns="27432" bIns="27432">
            <a:spAutoFit/>
          </a:bodyPr>
          <a:lstStyle/>
          <a:p>
            <a:r>
              <a:rPr sz="1600" b="1">
                <a:solidFill>
                  <a:srgbClr val="102444"/>
                </a:solidFill>
                <a:latin typeface="Aptos"/>
              </a:rPr>
              <a:t>Reference gaps</a:t>
            </a:r>
          </a:p>
        </p:txBody>
      </p:sp>
      <p:sp>
        <p:nvSpPr>
          <p:cNvPr id="13" name="TextBox 12"/>
          <p:cNvSpPr txBox="1"/>
          <p:nvPr/>
        </p:nvSpPr>
        <p:spPr>
          <a:xfrm>
            <a:off x="4544568" y="2039112"/>
            <a:ext cx="3154680" cy="932688"/>
          </a:xfrm>
          <a:prstGeom prst="rect">
            <a:avLst/>
          </a:prstGeom>
          <a:noFill/>
        </p:spPr>
        <p:txBody>
          <a:bodyPr wrap="square" lIns="54864" rIns="45720" tIns="27432" bIns="27432">
            <a:spAutoFit/>
          </a:bodyPr>
          <a:lstStyle/>
          <a:p>
            <a:r>
              <a:rPr sz="1300" b="0">
                <a:solidFill>
                  <a:srgbClr val="232F3E"/>
                </a:solidFill>
                <a:latin typeface="Aptos"/>
              </a:rPr>
              <a:t>A failed lookup may mean missing data, not absence of authorisation.</a:t>
            </a:r>
          </a:p>
        </p:txBody>
      </p:sp>
      <p:sp>
        <p:nvSpPr>
          <p:cNvPr id="14" name="Rounded Rectangle 13"/>
          <p:cNvSpPr/>
          <p:nvPr/>
        </p:nvSpPr>
        <p:spPr>
          <a:xfrm>
            <a:off x="8046720" y="1508760"/>
            <a:ext cx="3520440" cy="155448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508760"/>
            <a:ext cx="82296" cy="1554480"/>
          </a:xfrm>
          <a:prstGeom prst="rect">
            <a:avLst/>
          </a:prstGeom>
          <a:solidFill>
            <a:srgbClr val="1F5E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636776"/>
            <a:ext cx="3172968" cy="329184"/>
          </a:xfrm>
          <a:prstGeom prst="rect">
            <a:avLst/>
          </a:prstGeom>
          <a:noFill/>
        </p:spPr>
        <p:txBody>
          <a:bodyPr wrap="square" lIns="54864" rIns="45720" tIns="27432" bIns="27432">
            <a:spAutoFit/>
          </a:bodyPr>
          <a:lstStyle/>
          <a:p>
            <a:r>
              <a:rPr sz="1600" b="1">
                <a:solidFill>
                  <a:srgbClr val="102444"/>
                </a:solidFill>
                <a:latin typeface="Aptos"/>
              </a:rPr>
              <a:t>Visual variation</a:t>
            </a:r>
          </a:p>
        </p:txBody>
      </p:sp>
      <p:sp>
        <p:nvSpPr>
          <p:cNvPr id="17" name="TextBox 16"/>
          <p:cNvSpPr txBox="1"/>
          <p:nvPr/>
        </p:nvSpPr>
        <p:spPr>
          <a:xfrm>
            <a:off x="8247888" y="2039112"/>
            <a:ext cx="3154680" cy="932688"/>
          </a:xfrm>
          <a:prstGeom prst="rect">
            <a:avLst/>
          </a:prstGeom>
          <a:noFill/>
        </p:spPr>
        <p:txBody>
          <a:bodyPr wrap="square" lIns="54864" rIns="45720" tIns="27432" bIns="27432">
            <a:spAutoFit/>
          </a:bodyPr>
          <a:lstStyle/>
          <a:p>
            <a:r>
              <a:rPr sz="1300" b="0">
                <a:solidFill>
                  <a:srgbClr val="232F3E"/>
                </a:solidFill>
                <a:latin typeface="Aptos"/>
              </a:rPr>
              <a:t>Lighting, packaging design and legitimate variants can look different.</a:t>
            </a:r>
          </a:p>
        </p:txBody>
      </p:sp>
      <p:sp>
        <p:nvSpPr>
          <p:cNvPr id="18" name="Rounded Rectangle 17"/>
          <p:cNvSpPr/>
          <p:nvPr/>
        </p:nvSpPr>
        <p:spPr>
          <a:xfrm>
            <a:off x="640080" y="3429000"/>
            <a:ext cx="3520440" cy="155448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3429000"/>
            <a:ext cx="82296" cy="1554480"/>
          </a:xfrm>
          <a:prstGeom prst="rect">
            <a:avLst/>
          </a:prstGeom>
          <a:solidFill>
            <a:srgbClr val="BE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7" y="3557016"/>
            <a:ext cx="3172968" cy="329184"/>
          </a:xfrm>
          <a:prstGeom prst="rect">
            <a:avLst/>
          </a:prstGeom>
          <a:noFill/>
        </p:spPr>
        <p:txBody>
          <a:bodyPr wrap="square" lIns="54864" rIns="45720" tIns="27432" bIns="27432">
            <a:spAutoFit/>
          </a:bodyPr>
          <a:lstStyle/>
          <a:p>
            <a:r>
              <a:rPr sz="1600" b="1">
                <a:solidFill>
                  <a:srgbClr val="102444"/>
                </a:solidFill>
                <a:latin typeface="Aptos"/>
              </a:rPr>
              <a:t>Edited content</a:t>
            </a:r>
          </a:p>
        </p:txBody>
      </p:sp>
      <p:sp>
        <p:nvSpPr>
          <p:cNvPr id="21" name="TextBox 20"/>
          <p:cNvSpPr txBox="1"/>
          <p:nvPr/>
        </p:nvSpPr>
        <p:spPr>
          <a:xfrm>
            <a:off x="841247" y="3959352"/>
            <a:ext cx="3154680" cy="932688"/>
          </a:xfrm>
          <a:prstGeom prst="rect">
            <a:avLst/>
          </a:prstGeom>
          <a:noFill/>
        </p:spPr>
        <p:txBody>
          <a:bodyPr wrap="square" lIns="54864" rIns="45720" tIns="27432" bIns="27432">
            <a:spAutoFit/>
          </a:bodyPr>
          <a:lstStyle/>
          <a:p>
            <a:r>
              <a:rPr sz="1300" b="0">
                <a:solidFill>
                  <a:srgbClr val="232F3E"/>
                </a:solidFill>
                <a:latin typeface="Aptos"/>
              </a:rPr>
              <a:t>Crops, overlays and edited images can fool detectors.</a:t>
            </a:r>
          </a:p>
        </p:txBody>
      </p:sp>
      <p:sp>
        <p:nvSpPr>
          <p:cNvPr id="22" name="Rounded Rectangle 21"/>
          <p:cNvSpPr/>
          <p:nvPr/>
        </p:nvSpPr>
        <p:spPr>
          <a:xfrm>
            <a:off x="4343400" y="3429000"/>
            <a:ext cx="3520440" cy="155448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43400" y="3429000"/>
            <a:ext cx="82296" cy="1554480"/>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44568" y="3557016"/>
            <a:ext cx="3172968" cy="329184"/>
          </a:xfrm>
          <a:prstGeom prst="rect">
            <a:avLst/>
          </a:prstGeom>
          <a:noFill/>
        </p:spPr>
        <p:txBody>
          <a:bodyPr wrap="square" lIns="54864" rIns="45720" tIns="27432" bIns="27432">
            <a:spAutoFit/>
          </a:bodyPr>
          <a:lstStyle/>
          <a:p>
            <a:r>
              <a:rPr sz="1600" b="1">
                <a:solidFill>
                  <a:srgbClr val="102444"/>
                </a:solidFill>
                <a:latin typeface="Aptos"/>
              </a:rPr>
              <a:t>Language / bias</a:t>
            </a:r>
          </a:p>
        </p:txBody>
      </p:sp>
      <p:sp>
        <p:nvSpPr>
          <p:cNvPr id="25" name="TextBox 24"/>
          <p:cNvSpPr txBox="1"/>
          <p:nvPr/>
        </p:nvSpPr>
        <p:spPr>
          <a:xfrm>
            <a:off x="4544568" y="3959352"/>
            <a:ext cx="3154680" cy="932688"/>
          </a:xfrm>
          <a:prstGeom prst="rect">
            <a:avLst/>
          </a:prstGeom>
          <a:noFill/>
        </p:spPr>
        <p:txBody>
          <a:bodyPr wrap="square" lIns="54864" rIns="45720" tIns="27432" bIns="27432">
            <a:spAutoFit/>
          </a:bodyPr>
          <a:lstStyle/>
          <a:p>
            <a:r>
              <a:rPr sz="1300" b="0">
                <a:solidFill>
                  <a:srgbClr val="232F3E"/>
                </a:solidFill>
                <a:latin typeface="Aptos"/>
              </a:rPr>
              <a:t>Rules may work better for some scripts, categories or sellers.</a:t>
            </a:r>
          </a:p>
        </p:txBody>
      </p:sp>
      <p:sp>
        <p:nvSpPr>
          <p:cNvPr id="26" name="Rounded Rectangle 25"/>
          <p:cNvSpPr/>
          <p:nvPr/>
        </p:nvSpPr>
        <p:spPr>
          <a:xfrm>
            <a:off x="8046720" y="3429000"/>
            <a:ext cx="3520440" cy="155448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46720" y="3429000"/>
            <a:ext cx="82296" cy="1554480"/>
          </a:xfrm>
          <a:prstGeom prst="rect">
            <a:avLst/>
          </a:prstGeom>
          <a:solidFill>
            <a:srgbClr val="278E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47888" y="3557016"/>
            <a:ext cx="3172968" cy="329184"/>
          </a:xfrm>
          <a:prstGeom prst="rect">
            <a:avLst/>
          </a:prstGeom>
          <a:noFill/>
        </p:spPr>
        <p:txBody>
          <a:bodyPr wrap="square" lIns="54864" rIns="45720" tIns="27432" bIns="27432">
            <a:spAutoFit/>
          </a:bodyPr>
          <a:lstStyle/>
          <a:p>
            <a:r>
              <a:rPr sz="1600" b="1">
                <a:solidFill>
                  <a:srgbClr val="102444"/>
                </a:solidFill>
                <a:latin typeface="Aptos"/>
              </a:rPr>
              <a:t>Legal interpretation</a:t>
            </a:r>
          </a:p>
        </p:txBody>
      </p:sp>
      <p:sp>
        <p:nvSpPr>
          <p:cNvPr id="29" name="TextBox 28"/>
          <p:cNvSpPr txBox="1"/>
          <p:nvPr/>
        </p:nvSpPr>
        <p:spPr>
          <a:xfrm>
            <a:off x="8247888" y="3959352"/>
            <a:ext cx="3154680" cy="932688"/>
          </a:xfrm>
          <a:prstGeom prst="rect">
            <a:avLst/>
          </a:prstGeom>
          <a:noFill/>
        </p:spPr>
        <p:txBody>
          <a:bodyPr wrap="square" lIns="54864" rIns="45720" tIns="27432" bIns="27432">
            <a:spAutoFit/>
          </a:bodyPr>
          <a:lstStyle/>
          <a:p>
            <a:r>
              <a:rPr sz="1300" b="0">
                <a:solidFill>
                  <a:srgbClr val="232F3E"/>
                </a:solidFill>
                <a:latin typeface="Aptos"/>
              </a:rPr>
              <a:t>AI cannot establish intent, legality or liability by itself.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17. Three-hour MVP build plan</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Prioritise a reliable end-to-end demo over complex model training</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19</a:t>
            </a:r>
          </a:p>
        </p:txBody>
      </p:sp>
      <p:sp>
        <p:nvSpPr>
          <p:cNvPr id="6" name="Rounded Rectangle 5"/>
          <p:cNvSpPr/>
          <p:nvPr/>
        </p:nvSpPr>
        <p:spPr>
          <a:xfrm>
            <a:off x="320040" y="2194560"/>
            <a:ext cx="1737360" cy="1325880"/>
          </a:xfrm>
          <a:prstGeom prst="roundRect">
            <a:avLst/>
          </a:prstGeom>
          <a:solidFill>
            <a:srgbClr val="EEF5FB"/>
          </a:solidFill>
          <a:ln>
            <a:solidFill>
              <a:srgbClr val="1F5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3192" y="2286000"/>
            <a:ext cx="1591056" cy="274320"/>
          </a:xfrm>
          <a:prstGeom prst="rect">
            <a:avLst/>
          </a:prstGeom>
          <a:noFill/>
        </p:spPr>
        <p:txBody>
          <a:bodyPr wrap="square" lIns="54864" rIns="45720" tIns="27432" bIns="27432">
            <a:spAutoFit/>
          </a:bodyPr>
          <a:lstStyle/>
          <a:p>
            <a:pPr algn="ctr"/>
            <a:r>
              <a:rPr sz="1300" b="1">
                <a:solidFill>
                  <a:srgbClr val="102444"/>
                </a:solidFill>
                <a:latin typeface="Aptos"/>
              </a:rPr>
              <a:t>0–20 min</a:t>
            </a:r>
          </a:p>
        </p:txBody>
      </p:sp>
      <p:sp>
        <p:nvSpPr>
          <p:cNvPr id="8" name="TextBox 7"/>
          <p:cNvSpPr txBox="1"/>
          <p:nvPr/>
        </p:nvSpPr>
        <p:spPr>
          <a:xfrm>
            <a:off x="411479" y="2606040"/>
            <a:ext cx="1554480" cy="868680"/>
          </a:xfrm>
          <a:prstGeom prst="rect">
            <a:avLst/>
          </a:prstGeom>
          <a:noFill/>
        </p:spPr>
        <p:txBody>
          <a:bodyPr wrap="square" lIns="54864" rIns="45720" tIns="27432" bIns="27432">
            <a:spAutoFit/>
          </a:bodyPr>
          <a:lstStyle/>
          <a:p>
            <a:pPr algn="ctr"/>
            <a:r>
              <a:rPr sz="1000" b="0">
                <a:solidFill>
                  <a:srgbClr val="232F3E"/>
                </a:solidFill>
                <a:latin typeface="Aptos"/>
              </a:rPr>
              <a:t>Project + sample data</a:t>
            </a:r>
          </a:p>
        </p:txBody>
      </p:sp>
      <p:sp>
        <p:nvSpPr>
          <p:cNvPr id="9" name="TextBox 8"/>
          <p:cNvSpPr txBox="1"/>
          <p:nvPr/>
        </p:nvSpPr>
        <p:spPr>
          <a:xfrm>
            <a:off x="2057400" y="2532888"/>
            <a:ext cx="228600" cy="274320"/>
          </a:xfrm>
          <a:prstGeom prst="rect">
            <a:avLst/>
          </a:prstGeom>
          <a:noFill/>
        </p:spPr>
        <p:txBody>
          <a:bodyPr wrap="square" lIns="54864" rIns="45720" tIns="27432" bIns="27432">
            <a:spAutoFit/>
          </a:bodyPr>
          <a:lstStyle/>
          <a:p>
            <a:pPr algn="ctr"/>
            <a:r>
              <a:rPr sz="1800" b="1">
                <a:solidFill>
                  <a:srgbClr val="21A9BE"/>
                </a:solidFill>
                <a:latin typeface="Aptos"/>
              </a:rPr>
              <a:t>→</a:t>
            </a:r>
          </a:p>
        </p:txBody>
      </p:sp>
      <p:sp>
        <p:nvSpPr>
          <p:cNvPr id="10" name="Rounded Rectangle 9"/>
          <p:cNvSpPr/>
          <p:nvPr/>
        </p:nvSpPr>
        <p:spPr>
          <a:xfrm>
            <a:off x="2286000" y="2194560"/>
            <a:ext cx="1737360" cy="1325880"/>
          </a:xfrm>
          <a:prstGeom prst="roundRect">
            <a:avLst/>
          </a:prstGeom>
          <a:solidFill>
            <a:srgbClr val="E5F2F7"/>
          </a:solidFill>
          <a:ln>
            <a:solidFill>
              <a:srgbClr val="1F5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59152" y="2286000"/>
            <a:ext cx="1591056" cy="274320"/>
          </a:xfrm>
          <a:prstGeom prst="rect">
            <a:avLst/>
          </a:prstGeom>
          <a:noFill/>
        </p:spPr>
        <p:txBody>
          <a:bodyPr wrap="square" lIns="54864" rIns="45720" tIns="27432" bIns="27432">
            <a:spAutoFit/>
          </a:bodyPr>
          <a:lstStyle/>
          <a:p>
            <a:pPr algn="ctr"/>
            <a:r>
              <a:rPr sz="1300" b="1">
                <a:solidFill>
                  <a:srgbClr val="102444"/>
                </a:solidFill>
                <a:latin typeface="Aptos"/>
              </a:rPr>
              <a:t>20–55 min</a:t>
            </a:r>
          </a:p>
        </p:txBody>
      </p:sp>
      <p:sp>
        <p:nvSpPr>
          <p:cNvPr id="12" name="TextBox 11"/>
          <p:cNvSpPr txBox="1"/>
          <p:nvPr/>
        </p:nvSpPr>
        <p:spPr>
          <a:xfrm>
            <a:off x="2377440" y="2606040"/>
            <a:ext cx="1554480" cy="868680"/>
          </a:xfrm>
          <a:prstGeom prst="rect">
            <a:avLst/>
          </a:prstGeom>
          <a:noFill/>
        </p:spPr>
        <p:txBody>
          <a:bodyPr wrap="square" lIns="54864" rIns="45720" tIns="27432" bIns="27432">
            <a:spAutoFit/>
          </a:bodyPr>
          <a:lstStyle/>
          <a:p>
            <a:pPr algn="ctr"/>
            <a:r>
              <a:rPr sz="1000" b="0">
                <a:solidFill>
                  <a:srgbClr val="232F3E"/>
                </a:solidFill>
                <a:latin typeface="Aptos"/>
              </a:rPr>
              <a:t>Upload form + OCR</a:t>
            </a:r>
          </a:p>
        </p:txBody>
      </p:sp>
      <p:sp>
        <p:nvSpPr>
          <p:cNvPr id="13" name="TextBox 12"/>
          <p:cNvSpPr txBox="1"/>
          <p:nvPr/>
        </p:nvSpPr>
        <p:spPr>
          <a:xfrm>
            <a:off x="4023360" y="2532888"/>
            <a:ext cx="228600" cy="274320"/>
          </a:xfrm>
          <a:prstGeom prst="rect">
            <a:avLst/>
          </a:prstGeom>
          <a:noFill/>
        </p:spPr>
        <p:txBody>
          <a:bodyPr wrap="square" lIns="54864" rIns="45720" tIns="27432" bIns="27432">
            <a:spAutoFit/>
          </a:bodyPr>
          <a:lstStyle/>
          <a:p>
            <a:pPr algn="ctr"/>
            <a:r>
              <a:rPr sz="1800" b="1">
                <a:solidFill>
                  <a:srgbClr val="21A9BE"/>
                </a:solidFill>
                <a:latin typeface="Aptos"/>
              </a:rPr>
              <a:t>→</a:t>
            </a:r>
          </a:p>
        </p:txBody>
      </p:sp>
      <p:sp>
        <p:nvSpPr>
          <p:cNvPr id="14" name="Rounded Rectangle 13"/>
          <p:cNvSpPr/>
          <p:nvPr/>
        </p:nvSpPr>
        <p:spPr>
          <a:xfrm>
            <a:off x="4251959" y="2194560"/>
            <a:ext cx="1737360" cy="1325880"/>
          </a:xfrm>
          <a:prstGeom prst="roundRect">
            <a:avLst/>
          </a:prstGeom>
          <a:solidFill>
            <a:srgbClr val="EEF5FB"/>
          </a:solidFill>
          <a:ln>
            <a:solidFill>
              <a:srgbClr val="1F5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25112" y="2286000"/>
            <a:ext cx="1591056" cy="274320"/>
          </a:xfrm>
          <a:prstGeom prst="rect">
            <a:avLst/>
          </a:prstGeom>
          <a:noFill/>
        </p:spPr>
        <p:txBody>
          <a:bodyPr wrap="square" lIns="54864" rIns="45720" tIns="27432" bIns="27432">
            <a:spAutoFit/>
          </a:bodyPr>
          <a:lstStyle/>
          <a:p>
            <a:pPr algn="ctr"/>
            <a:r>
              <a:rPr sz="1300" b="1">
                <a:solidFill>
                  <a:srgbClr val="102444"/>
                </a:solidFill>
                <a:latin typeface="Aptos"/>
              </a:rPr>
              <a:t>55–90 min</a:t>
            </a:r>
          </a:p>
        </p:txBody>
      </p:sp>
      <p:sp>
        <p:nvSpPr>
          <p:cNvPr id="16" name="TextBox 15"/>
          <p:cNvSpPr txBox="1"/>
          <p:nvPr/>
        </p:nvSpPr>
        <p:spPr>
          <a:xfrm>
            <a:off x="4343399" y="2606040"/>
            <a:ext cx="1554480" cy="868680"/>
          </a:xfrm>
          <a:prstGeom prst="rect">
            <a:avLst/>
          </a:prstGeom>
          <a:noFill/>
        </p:spPr>
        <p:txBody>
          <a:bodyPr wrap="square" lIns="54864" rIns="45720" tIns="27432" bIns="27432">
            <a:spAutoFit/>
          </a:bodyPr>
          <a:lstStyle/>
          <a:p>
            <a:pPr algn="ctr"/>
            <a:r>
              <a:rPr sz="1000" b="0">
                <a:solidFill>
                  <a:srgbClr val="232F3E"/>
                </a:solidFill>
                <a:latin typeface="Aptos"/>
              </a:rPr>
              <a:t>ID parsing + rules</a:t>
            </a:r>
          </a:p>
        </p:txBody>
      </p:sp>
      <p:sp>
        <p:nvSpPr>
          <p:cNvPr id="17" name="TextBox 16"/>
          <p:cNvSpPr txBox="1"/>
          <p:nvPr/>
        </p:nvSpPr>
        <p:spPr>
          <a:xfrm>
            <a:off x="5989319" y="2532888"/>
            <a:ext cx="228600" cy="274320"/>
          </a:xfrm>
          <a:prstGeom prst="rect">
            <a:avLst/>
          </a:prstGeom>
          <a:noFill/>
        </p:spPr>
        <p:txBody>
          <a:bodyPr wrap="square" lIns="54864" rIns="45720" tIns="27432" bIns="27432">
            <a:spAutoFit/>
          </a:bodyPr>
          <a:lstStyle/>
          <a:p>
            <a:pPr algn="ctr"/>
            <a:r>
              <a:rPr sz="1800" b="1">
                <a:solidFill>
                  <a:srgbClr val="21A9BE"/>
                </a:solidFill>
                <a:latin typeface="Aptos"/>
              </a:rPr>
              <a:t>→</a:t>
            </a:r>
          </a:p>
        </p:txBody>
      </p:sp>
      <p:sp>
        <p:nvSpPr>
          <p:cNvPr id="18" name="Rounded Rectangle 17"/>
          <p:cNvSpPr/>
          <p:nvPr/>
        </p:nvSpPr>
        <p:spPr>
          <a:xfrm>
            <a:off x="6217919" y="2194560"/>
            <a:ext cx="1737360" cy="1325880"/>
          </a:xfrm>
          <a:prstGeom prst="roundRect">
            <a:avLst/>
          </a:prstGeom>
          <a:solidFill>
            <a:srgbClr val="E5F2F7"/>
          </a:solidFill>
          <a:ln>
            <a:solidFill>
              <a:srgbClr val="1F5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91071" y="2286000"/>
            <a:ext cx="1591056" cy="274320"/>
          </a:xfrm>
          <a:prstGeom prst="rect">
            <a:avLst/>
          </a:prstGeom>
          <a:noFill/>
        </p:spPr>
        <p:txBody>
          <a:bodyPr wrap="square" lIns="54864" rIns="45720" tIns="27432" bIns="27432">
            <a:spAutoFit/>
          </a:bodyPr>
          <a:lstStyle/>
          <a:p>
            <a:pPr algn="ctr"/>
            <a:r>
              <a:rPr sz="1300" b="1">
                <a:solidFill>
                  <a:srgbClr val="102444"/>
                </a:solidFill>
                <a:latin typeface="Aptos"/>
              </a:rPr>
              <a:t>90–125 min</a:t>
            </a:r>
          </a:p>
        </p:txBody>
      </p:sp>
      <p:sp>
        <p:nvSpPr>
          <p:cNvPr id="20" name="TextBox 19"/>
          <p:cNvSpPr txBox="1"/>
          <p:nvPr/>
        </p:nvSpPr>
        <p:spPr>
          <a:xfrm>
            <a:off x="6309359" y="2606040"/>
            <a:ext cx="1554480" cy="868680"/>
          </a:xfrm>
          <a:prstGeom prst="rect">
            <a:avLst/>
          </a:prstGeom>
          <a:noFill/>
        </p:spPr>
        <p:txBody>
          <a:bodyPr wrap="square" lIns="54864" rIns="45720" tIns="27432" bIns="27432">
            <a:spAutoFit/>
          </a:bodyPr>
          <a:lstStyle/>
          <a:p>
            <a:pPr algn="ctr"/>
            <a:r>
              <a:rPr sz="1000" b="0">
                <a:solidFill>
                  <a:srgbClr val="232F3E"/>
                </a:solidFill>
                <a:latin typeface="Aptos"/>
              </a:rPr>
              <a:t>Risk score + case view</a:t>
            </a:r>
          </a:p>
        </p:txBody>
      </p:sp>
      <p:sp>
        <p:nvSpPr>
          <p:cNvPr id="21" name="TextBox 20"/>
          <p:cNvSpPr txBox="1"/>
          <p:nvPr/>
        </p:nvSpPr>
        <p:spPr>
          <a:xfrm>
            <a:off x="7955279" y="2532888"/>
            <a:ext cx="228600" cy="274320"/>
          </a:xfrm>
          <a:prstGeom prst="rect">
            <a:avLst/>
          </a:prstGeom>
          <a:noFill/>
        </p:spPr>
        <p:txBody>
          <a:bodyPr wrap="square" lIns="54864" rIns="45720" tIns="27432" bIns="27432">
            <a:spAutoFit/>
          </a:bodyPr>
          <a:lstStyle/>
          <a:p>
            <a:pPr algn="ctr"/>
            <a:r>
              <a:rPr sz="1800" b="1">
                <a:solidFill>
                  <a:srgbClr val="21A9BE"/>
                </a:solidFill>
                <a:latin typeface="Aptos"/>
              </a:rPr>
              <a:t>→</a:t>
            </a:r>
          </a:p>
        </p:txBody>
      </p:sp>
      <p:sp>
        <p:nvSpPr>
          <p:cNvPr id="22" name="Rounded Rectangle 21"/>
          <p:cNvSpPr/>
          <p:nvPr/>
        </p:nvSpPr>
        <p:spPr>
          <a:xfrm>
            <a:off x="8183879" y="2194560"/>
            <a:ext cx="1737360" cy="1325880"/>
          </a:xfrm>
          <a:prstGeom prst="roundRect">
            <a:avLst/>
          </a:prstGeom>
          <a:solidFill>
            <a:srgbClr val="EEF5FB"/>
          </a:solidFill>
          <a:ln>
            <a:solidFill>
              <a:srgbClr val="1F5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57031" y="2286000"/>
            <a:ext cx="1591056" cy="274320"/>
          </a:xfrm>
          <a:prstGeom prst="rect">
            <a:avLst/>
          </a:prstGeom>
          <a:noFill/>
        </p:spPr>
        <p:txBody>
          <a:bodyPr wrap="square" lIns="54864" rIns="45720" tIns="27432" bIns="27432">
            <a:spAutoFit/>
          </a:bodyPr>
          <a:lstStyle/>
          <a:p>
            <a:pPr algn="ctr"/>
            <a:r>
              <a:rPr sz="1300" b="1">
                <a:solidFill>
                  <a:srgbClr val="102444"/>
                </a:solidFill>
                <a:latin typeface="Aptos"/>
              </a:rPr>
              <a:t>125–155 min</a:t>
            </a:r>
          </a:p>
        </p:txBody>
      </p:sp>
      <p:sp>
        <p:nvSpPr>
          <p:cNvPr id="24" name="TextBox 23"/>
          <p:cNvSpPr txBox="1"/>
          <p:nvPr/>
        </p:nvSpPr>
        <p:spPr>
          <a:xfrm>
            <a:off x="8275319" y="2606040"/>
            <a:ext cx="1554480" cy="868680"/>
          </a:xfrm>
          <a:prstGeom prst="rect">
            <a:avLst/>
          </a:prstGeom>
          <a:noFill/>
        </p:spPr>
        <p:txBody>
          <a:bodyPr wrap="square" lIns="54864" rIns="45720" tIns="27432" bIns="27432">
            <a:spAutoFit/>
          </a:bodyPr>
          <a:lstStyle/>
          <a:p>
            <a:pPr algn="ctr"/>
            <a:r>
              <a:rPr sz="1000" b="0">
                <a:solidFill>
                  <a:srgbClr val="232F3E"/>
                </a:solidFill>
                <a:latin typeface="Aptos"/>
              </a:rPr>
              <a:t>Test 8–12 cases</a:t>
            </a:r>
          </a:p>
        </p:txBody>
      </p:sp>
      <p:sp>
        <p:nvSpPr>
          <p:cNvPr id="25" name="TextBox 24"/>
          <p:cNvSpPr txBox="1"/>
          <p:nvPr/>
        </p:nvSpPr>
        <p:spPr>
          <a:xfrm>
            <a:off x="9921240" y="2532888"/>
            <a:ext cx="228600" cy="274320"/>
          </a:xfrm>
          <a:prstGeom prst="rect">
            <a:avLst/>
          </a:prstGeom>
          <a:noFill/>
        </p:spPr>
        <p:txBody>
          <a:bodyPr wrap="square" lIns="54864" rIns="45720" tIns="27432" bIns="27432">
            <a:spAutoFit/>
          </a:bodyPr>
          <a:lstStyle/>
          <a:p>
            <a:pPr algn="ctr"/>
            <a:r>
              <a:rPr sz="1800" b="1">
                <a:solidFill>
                  <a:srgbClr val="21A9BE"/>
                </a:solidFill>
                <a:latin typeface="Aptos"/>
              </a:rPr>
              <a:t>→</a:t>
            </a:r>
          </a:p>
        </p:txBody>
      </p:sp>
      <p:sp>
        <p:nvSpPr>
          <p:cNvPr id="26" name="Rounded Rectangle 25"/>
          <p:cNvSpPr/>
          <p:nvPr/>
        </p:nvSpPr>
        <p:spPr>
          <a:xfrm>
            <a:off x="10149840" y="2194560"/>
            <a:ext cx="1737360" cy="1325880"/>
          </a:xfrm>
          <a:prstGeom prst="roundRect">
            <a:avLst/>
          </a:prstGeom>
          <a:solidFill>
            <a:srgbClr val="E5F2F7"/>
          </a:solidFill>
          <a:ln>
            <a:solidFill>
              <a:srgbClr val="1F5E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2992" y="2286000"/>
            <a:ext cx="1591056" cy="274320"/>
          </a:xfrm>
          <a:prstGeom prst="rect">
            <a:avLst/>
          </a:prstGeom>
          <a:noFill/>
        </p:spPr>
        <p:txBody>
          <a:bodyPr wrap="square" lIns="54864" rIns="45720" tIns="27432" bIns="27432">
            <a:spAutoFit/>
          </a:bodyPr>
          <a:lstStyle/>
          <a:p>
            <a:pPr algn="ctr"/>
            <a:r>
              <a:rPr sz="1300" b="1">
                <a:solidFill>
                  <a:srgbClr val="102444"/>
                </a:solidFill>
                <a:latin typeface="Aptos"/>
              </a:rPr>
              <a:t>155–180 min</a:t>
            </a:r>
          </a:p>
        </p:txBody>
      </p:sp>
      <p:sp>
        <p:nvSpPr>
          <p:cNvPr id="28" name="TextBox 27"/>
          <p:cNvSpPr txBox="1"/>
          <p:nvPr/>
        </p:nvSpPr>
        <p:spPr>
          <a:xfrm>
            <a:off x="10241280" y="2606040"/>
            <a:ext cx="1554480" cy="868680"/>
          </a:xfrm>
          <a:prstGeom prst="rect">
            <a:avLst/>
          </a:prstGeom>
          <a:noFill/>
        </p:spPr>
        <p:txBody>
          <a:bodyPr wrap="square" lIns="54864" rIns="45720" tIns="27432" bIns="27432">
            <a:spAutoFit/>
          </a:bodyPr>
          <a:lstStyle/>
          <a:p>
            <a:pPr algn="ctr"/>
            <a:r>
              <a:rPr sz="1000" b="0">
                <a:solidFill>
                  <a:srgbClr val="232F3E"/>
                </a:solidFill>
                <a:latin typeface="Aptos"/>
              </a:rPr>
              <a:t>Polish demo + pitch</a:t>
            </a:r>
          </a:p>
        </p:txBody>
      </p:sp>
      <p:sp>
        <p:nvSpPr>
          <p:cNvPr id="29" name="TextBox 28"/>
          <p:cNvSpPr txBox="1"/>
          <p:nvPr/>
        </p:nvSpPr>
        <p:spPr>
          <a:xfrm>
            <a:off x="777240" y="4069080"/>
            <a:ext cx="10607040" cy="1737360"/>
          </a:xfrm>
          <a:prstGeom prst="rect">
            <a:avLst/>
          </a:prstGeom>
          <a:noFill/>
        </p:spPr>
        <p:txBody>
          <a:bodyPr wrap="square" lIns="73152" rIns="45720">
            <a:spAutoFit/>
          </a:bodyPr>
          <a:lstStyle/>
          <a:p>
            <a:pPr>
              <a:spcAft>
                <a:spcPts val="600"/>
              </a:spcAft>
              <a:defRPr sz="1500">
                <a:solidFill>
                  <a:srgbClr val="232F3E"/>
                </a:solidFill>
                <a:latin typeface="Aptos"/>
              </a:defRPr>
            </a:pPr>
            <a:r>
              <a:t>•  MVP stack: Python, Streamlit, Pillow/OpenCV, OCR library, pandas, SQLite/CSV.</a:t>
            </a:r>
          </a:p>
          <a:p>
            <a:pPr>
              <a:spcAft>
                <a:spcPts val="600"/>
              </a:spcAft>
              <a:defRPr sz="1500">
                <a:solidFill>
                  <a:srgbClr val="232F3E"/>
                </a:solidFill>
                <a:latin typeface="Aptos"/>
              </a:defRPr>
            </a:pPr>
            <a:r>
              <a:t>•  Use a synthetic reference CSV: candidate_id, product_category, model, status, valid_from, valid_to.</a:t>
            </a:r>
          </a:p>
          <a:p>
            <a:pPr>
              <a:spcAft>
                <a:spcPts val="600"/>
              </a:spcAft>
              <a:defRPr sz="1500">
                <a:solidFill>
                  <a:srgbClr val="232F3E"/>
                </a:solidFill>
                <a:latin typeface="Aptos"/>
              </a:defRPr>
            </a:pPr>
            <a:r>
              <a:t>•  Fallback when OCR is unavailable: manual text entry plus rule-based analysis, clearly labelled.</a:t>
            </a:r>
          </a:p>
          <a:p>
            <a:pPr>
              <a:spcAft>
                <a:spcPts val="600"/>
              </a:spcAft>
              <a:defRPr sz="1500">
                <a:solidFill>
                  <a:srgbClr val="232F3E"/>
                </a:solidFill>
                <a:latin typeface="Aptos"/>
              </a:defRPr>
            </a:pPr>
            <a:r>
              <a:t>•  Do not train a custom vision model in three hours without a prepared labelled dataset.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18. Live demo scenario</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Show how a reviewer moves from signal to evidence</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20</a:t>
            </a:r>
          </a:p>
        </p:txBody>
      </p:sp>
      <p:sp>
        <p:nvSpPr>
          <p:cNvPr id="6" name="TextBox 5"/>
          <p:cNvSpPr txBox="1"/>
          <p:nvPr/>
        </p:nvSpPr>
        <p:spPr>
          <a:xfrm>
            <a:off x="713232" y="1508760"/>
            <a:ext cx="10789920" cy="4663440"/>
          </a:xfrm>
          <a:prstGeom prst="rect">
            <a:avLst/>
          </a:prstGeom>
          <a:noFill/>
        </p:spPr>
        <p:txBody>
          <a:bodyPr wrap="square" lIns="73152" rIns="45720">
            <a:spAutoFit/>
          </a:bodyPr>
          <a:lstStyle/>
          <a:p>
            <a:pPr>
              <a:spcAft>
                <a:spcPts val="1000"/>
              </a:spcAft>
              <a:defRPr sz="1800">
                <a:solidFill>
                  <a:srgbClr val="232F3E"/>
                </a:solidFill>
                <a:latin typeface="Aptos"/>
              </a:defRPr>
            </a:pPr>
            <a:r>
              <a:t>•  Demo A — legitimate synthetic record: visible claim + candidate ID matches toy product scope → low risk / matched in demo data.</a:t>
            </a:r>
          </a:p>
          <a:p>
            <a:pPr>
              <a:spcAft>
                <a:spcPts val="1000"/>
              </a:spcAft>
              <a:defRPr sz="1800">
                <a:solidFill>
                  <a:srgbClr val="232F3E"/>
                </a:solidFill>
                <a:latin typeface="Aptos"/>
              </a:defRPr>
            </a:pPr>
            <a:r>
              <a:t>•  Demo B — scope mismatch: candidate ID exists but product category differs → priority with explicit mismatch reason.</a:t>
            </a:r>
          </a:p>
          <a:p>
            <a:pPr>
              <a:spcAft>
                <a:spcPts val="1000"/>
              </a:spcAft>
              <a:defRPr sz="1800">
                <a:solidFill>
                  <a:srgbClr val="232F3E"/>
                </a:solidFill>
                <a:latin typeface="Aptos"/>
              </a:defRPr>
            </a:pPr>
            <a:r>
              <a:t>•  Demo C — no readable ID: OCR confidence is low → ‘insufficient evidence’; request a clearer image instead of alleging misuse.</a:t>
            </a:r>
          </a:p>
          <a:p>
            <a:pPr>
              <a:spcAft>
                <a:spcPts val="1000"/>
              </a:spcAft>
              <a:defRPr sz="1800">
                <a:solidFill>
                  <a:srgbClr val="232F3E"/>
                </a:solidFill>
                <a:latin typeface="Aptos"/>
              </a:defRPr>
            </a:pPr>
            <a:r>
              <a:t>•  Open each case to show original evidence, OCR text, matching result, score breakdown and reviewer decision.</a:t>
            </a:r>
          </a:p>
          <a:p>
            <a:pPr>
              <a:spcAft>
                <a:spcPts val="1000"/>
              </a:spcAft>
              <a:defRPr sz="1800">
                <a:solidFill>
                  <a:srgbClr val="232F3E"/>
                </a:solidFill>
                <a:latin typeface="Aptos"/>
              </a:defRPr>
            </a:pPr>
            <a:r>
              <a:t>•  Close by showing an audit log and how a reviewer can dismiss a false positive.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19. Expected value and impact</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Benefits to enforcement teams and consumers</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21</a:t>
            </a:r>
          </a:p>
        </p:txBody>
      </p:sp>
      <p:sp>
        <p:nvSpPr>
          <p:cNvPr id="6" name="Rounded Rectangle 5"/>
          <p:cNvSpPr/>
          <p:nvPr/>
        </p:nvSpPr>
        <p:spPr>
          <a:xfrm>
            <a:off x="640080" y="1508760"/>
            <a:ext cx="3520440" cy="150876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08760"/>
            <a:ext cx="82296" cy="1508760"/>
          </a:xfrm>
          <a:prstGeom prst="rect">
            <a:avLst/>
          </a:prstGeom>
          <a:solidFill>
            <a:srgbClr val="1F5E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636776"/>
            <a:ext cx="3172968" cy="329184"/>
          </a:xfrm>
          <a:prstGeom prst="rect">
            <a:avLst/>
          </a:prstGeom>
          <a:noFill/>
        </p:spPr>
        <p:txBody>
          <a:bodyPr wrap="square" lIns="54864" rIns="45720" tIns="27432" bIns="27432">
            <a:spAutoFit/>
          </a:bodyPr>
          <a:lstStyle/>
          <a:p>
            <a:r>
              <a:rPr sz="1600" b="1">
                <a:solidFill>
                  <a:srgbClr val="102444"/>
                </a:solidFill>
                <a:latin typeface="Aptos"/>
              </a:rPr>
              <a:t>Faster screening</a:t>
            </a:r>
          </a:p>
        </p:txBody>
      </p:sp>
      <p:sp>
        <p:nvSpPr>
          <p:cNvPr id="9" name="TextBox 8"/>
          <p:cNvSpPr txBox="1"/>
          <p:nvPr/>
        </p:nvSpPr>
        <p:spPr>
          <a:xfrm>
            <a:off x="841247" y="2039112"/>
            <a:ext cx="3154680" cy="886967"/>
          </a:xfrm>
          <a:prstGeom prst="rect">
            <a:avLst/>
          </a:prstGeom>
          <a:noFill/>
        </p:spPr>
        <p:txBody>
          <a:bodyPr wrap="square" lIns="54864" rIns="45720" tIns="27432" bIns="27432">
            <a:spAutoFit/>
          </a:bodyPr>
          <a:lstStyle/>
          <a:p>
            <a:r>
              <a:rPr sz="1300" b="0">
                <a:solidFill>
                  <a:srgbClr val="232F3E"/>
                </a:solidFill>
                <a:latin typeface="Aptos"/>
              </a:rPr>
              <a:t>Automates repetitive extraction and prioritises likely useful leads.</a:t>
            </a:r>
          </a:p>
        </p:txBody>
      </p:sp>
      <p:sp>
        <p:nvSpPr>
          <p:cNvPr id="10" name="Rounded Rectangle 9"/>
          <p:cNvSpPr/>
          <p:nvPr/>
        </p:nvSpPr>
        <p:spPr>
          <a:xfrm>
            <a:off x="4343400" y="1508760"/>
            <a:ext cx="3520440" cy="150876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508760"/>
            <a:ext cx="82296" cy="1508760"/>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636776"/>
            <a:ext cx="3172968" cy="329184"/>
          </a:xfrm>
          <a:prstGeom prst="rect">
            <a:avLst/>
          </a:prstGeom>
          <a:noFill/>
        </p:spPr>
        <p:txBody>
          <a:bodyPr wrap="square" lIns="54864" rIns="45720" tIns="27432" bIns="27432">
            <a:spAutoFit/>
          </a:bodyPr>
          <a:lstStyle/>
          <a:p>
            <a:r>
              <a:rPr sz="1600" b="1">
                <a:solidFill>
                  <a:srgbClr val="102444"/>
                </a:solidFill>
                <a:latin typeface="Aptos"/>
              </a:rPr>
              <a:t>Better evidence</a:t>
            </a:r>
          </a:p>
        </p:txBody>
      </p:sp>
      <p:sp>
        <p:nvSpPr>
          <p:cNvPr id="13" name="TextBox 12"/>
          <p:cNvSpPr txBox="1"/>
          <p:nvPr/>
        </p:nvSpPr>
        <p:spPr>
          <a:xfrm>
            <a:off x="4544568" y="2039112"/>
            <a:ext cx="3154680" cy="886967"/>
          </a:xfrm>
          <a:prstGeom prst="rect">
            <a:avLst/>
          </a:prstGeom>
          <a:noFill/>
        </p:spPr>
        <p:txBody>
          <a:bodyPr wrap="square" lIns="54864" rIns="45720" tIns="27432" bIns="27432">
            <a:spAutoFit/>
          </a:bodyPr>
          <a:lstStyle/>
          <a:p>
            <a:r>
              <a:rPr sz="1300" b="0">
                <a:solidFill>
                  <a:srgbClr val="232F3E"/>
                </a:solidFill>
                <a:latin typeface="Aptos"/>
              </a:rPr>
              <a:t>Standardised case files reduce missing context and improve traceability.</a:t>
            </a:r>
          </a:p>
        </p:txBody>
      </p:sp>
      <p:sp>
        <p:nvSpPr>
          <p:cNvPr id="14" name="Rounded Rectangle 13"/>
          <p:cNvSpPr/>
          <p:nvPr/>
        </p:nvSpPr>
        <p:spPr>
          <a:xfrm>
            <a:off x="8046720" y="1508760"/>
            <a:ext cx="3520440" cy="150876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508760"/>
            <a:ext cx="82296" cy="1508760"/>
          </a:xfrm>
          <a:prstGeom prst="rect">
            <a:avLst/>
          </a:prstGeom>
          <a:solidFill>
            <a:srgbClr val="278E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636776"/>
            <a:ext cx="3172968" cy="329184"/>
          </a:xfrm>
          <a:prstGeom prst="rect">
            <a:avLst/>
          </a:prstGeom>
          <a:noFill/>
        </p:spPr>
        <p:txBody>
          <a:bodyPr wrap="square" lIns="54864" rIns="45720" tIns="27432" bIns="27432">
            <a:spAutoFit/>
          </a:bodyPr>
          <a:lstStyle/>
          <a:p>
            <a:r>
              <a:rPr sz="1600" b="1">
                <a:solidFill>
                  <a:srgbClr val="102444"/>
                </a:solidFill>
                <a:latin typeface="Aptos"/>
              </a:rPr>
              <a:t>Consistent triage</a:t>
            </a:r>
          </a:p>
        </p:txBody>
      </p:sp>
      <p:sp>
        <p:nvSpPr>
          <p:cNvPr id="17" name="TextBox 16"/>
          <p:cNvSpPr txBox="1"/>
          <p:nvPr/>
        </p:nvSpPr>
        <p:spPr>
          <a:xfrm>
            <a:off x="8247888" y="2039112"/>
            <a:ext cx="3154680" cy="886967"/>
          </a:xfrm>
          <a:prstGeom prst="rect">
            <a:avLst/>
          </a:prstGeom>
          <a:noFill/>
        </p:spPr>
        <p:txBody>
          <a:bodyPr wrap="square" lIns="54864" rIns="45720" tIns="27432" bIns="27432">
            <a:spAutoFit/>
          </a:bodyPr>
          <a:lstStyle/>
          <a:p>
            <a:r>
              <a:rPr sz="1300" b="0">
                <a:solidFill>
                  <a:srgbClr val="232F3E"/>
                </a:solidFill>
                <a:latin typeface="Aptos"/>
              </a:rPr>
              <a:t>Same transparent rules applied across sources, with reviewer oversight.</a:t>
            </a:r>
          </a:p>
        </p:txBody>
      </p:sp>
      <p:sp>
        <p:nvSpPr>
          <p:cNvPr id="18" name="TextBox 17"/>
          <p:cNvSpPr txBox="1"/>
          <p:nvPr/>
        </p:nvSpPr>
        <p:spPr>
          <a:xfrm>
            <a:off x="777240" y="3703320"/>
            <a:ext cx="10515600" cy="457200"/>
          </a:xfrm>
          <a:prstGeom prst="rect">
            <a:avLst/>
          </a:prstGeom>
          <a:noFill/>
        </p:spPr>
        <p:txBody>
          <a:bodyPr wrap="square" lIns="54864" rIns="45720" tIns="27432" bIns="27432">
            <a:spAutoFit/>
          </a:bodyPr>
          <a:lstStyle/>
          <a:p>
            <a:r>
              <a:rPr sz="1800" b="1">
                <a:solidFill>
                  <a:srgbClr val="102444"/>
                </a:solidFill>
                <a:latin typeface="Aptos"/>
              </a:rPr>
              <a:t>Impact hypothesis to validate</a:t>
            </a:r>
          </a:p>
        </p:txBody>
      </p:sp>
      <p:sp>
        <p:nvSpPr>
          <p:cNvPr id="19" name="TextBox 18"/>
          <p:cNvSpPr txBox="1"/>
          <p:nvPr/>
        </p:nvSpPr>
        <p:spPr>
          <a:xfrm>
            <a:off x="822960" y="4251960"/>
            <a:ext cx="10332720" cy="1005840"/>
          </a:xfrm>
          <a:prstGeom prst="rect">
            <a:avLst/>
          </a:prstGeom>
          <a:noFill/>
        </p:spPr>
        <p:txBody>
          <a:bodyPr wrap="square" lIns="54864" rIns="45720" tIns="27432" bIns="27432">
            <a:spAutoFit/>
          </a:bodyPr>
          <a:lstStyle/>
          <a:p>
            <a:r>
              <a:rPr sz="1800" b="0">
                <a:solidFill>
                  <a:srgbClr val="232F3E"/>
                </a:solidFill>
                <a:latin typeface="Aptos"/>
              </a:rPr>
              <a:t>Measure whether reviewers can process more evidence per hour without increasing missed cases or unfairly flagging legitimate sellers. Report measured pilot results, not assumed savings.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20. Roadmap after the hackathon</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Move from demo to dependable operational tool in stages</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22</a:t>
            </a:r>
          </a:p>
        </p:txBody>
      </p:sp>
      <p:sp>
        <p:nvSpPr>
          <p:cNvPr id="6" name="Rounded Rectangle 5"/>
          <p:cNvSpPr/>
          <p:nvPr/>
        </p:nvSpPr>
        <p:spPr>
          <a:xfrm>
            <a:off x="640080" y="1508760"/>
            <a:ext cx="3520440" cy="182880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08760"/>
            <a:ext cx="82296" cy="1828800"/>
          </a:xfrm>
          <a:prstGeom prst="rect">
            <a:avLst/>
          </a:prstGeom>
          <a:solidFill>
            <a:srgbClr val="1F5E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636776"/>
            <a:ext cx="3172968" cy="329184"/>
          </a:xfrm>
          <a:prstGeom prst="rect">
            <a:avLst/>
          </a:prstGeom>
          <a:noFill/>
        </p:spPr>
        <p:txBody>
          <a:bodyPr wrap="square" lIns="54864" rIns="45720" tIns="27432" bIns="27432">
            <a:spAutoFit/>
          </a:bodyPr>
          <a:lstStyle/>
          <a:p>
            <a:r>
              <a:rPr sz="1600" b="1">
                <a:solidFill>
                  <a:srgbClr val="102444"/>
                </a:solidFill>
                <a:latin typeface="Aptos"/>
              </a:rPr>
              <a:t>Phase 1 • Prototype</a:t>
            </a:r>
          </a:p>
        </p:txBody>
      </p:sp>
      <p:sp>
        <p:nvSpPr>
          <p:cNvPr id="9" name="TextBox 8"/>
          <p:cNvSpPr txBox="1"/>
          <p:nvPr/>
        </p:nvSpPr>
        <p:spPr>
          <a:xfrm>
            <a:off x="841247" y="2039112"/>
            <a:ext cx="3154680" cy="1207007"/>
          </a:xfrm>
          <a:prstGeom prst="rect">
            <a:avLst/>
          </a:prstGeom>
          <a:noFill/>
        </p:spPr>
        <p:txBody>
          <a:bodyPr wrap="square" lIns="54864" rIns="45720" tIns="27432" bIns="27432">
            <a:spAutoFit/>
          </a:bodyPr>
          <a:lstStyle/>
          <a:p>
            <a:r>
              <a:rPr sz="1400" b="0">
                <a:solidFill>
                  <a:srgbClr val="232F3E"/>
                </a:solidFill>
                <a:latin typeface="Aptos"/>
              </a:rPr>
              <a:t>Upload + OCR + rules + synthetic lookup + reviewer queue.</a:t>
            </a:r>
          </a:p>
        </p:txBody>
      </p:sp>
      <p:sp>
        <p:nvSpPr>
          <p:cNvPr id="10" name="Rounded Rectangle 9"/>
          <p:cNvSpPr/>
          <p:nvPr/>
        </p:nvSpPr>
        <p:spPr>
          <a:xfrm>
            <a:off x="4343400" y="1508760"/>
            <a:ext cx="3520440" cy="182880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508760"/>
            <a:ext cx="82296" cy="1828800"/>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636776"/>
            <a:ext cx="3172968" cy="329184"/>
          </a:xfrm>
          <a:prstGeom prst="rect">
            <a:avLst/>
          </a:prstGeom>
          <a:noFill/>
        </p:spPr>
        <p:txBody>
          <a:bodyPr wrap="square" lIns="54864" rIns="45720" tIns="27432" bIns="27432">
            <a:spAutoFit/>
          </a:bodyPr>
          <a:lstStyle/>
          <a:p>
            <a:r>
              <a:rPr sz="1600" b="1">
                <a:solidFill>
                  <a:srgbClr val="102444"/>
                </a:solidFill>
                <a:latin typeface="Aptos"/>
              </a:rPr>
              <a:t>Phase 2 • Pilot</a:t>
            </a:r>
          </a:p>
        </p:txBody>
      </p:sp>
      <p:sp>
        <p:nvSpPr>
          <p:cNvPr id="13" name="TextBox 12"/>
          <p:cNvSpPr txBox="1"/>
          <p:nvPr/>
        </p:nvSpPr>
        <p:spPr>
          <a:xfrm>
            <a:off x="4544568" y="2039112"/>
            <a:ext cx="3154680" cy="1207007"/>
          </a:xfrm>
          <a:prstGeom prst="rect">
            <a:avLst/>
          </a:prstGeom>
          <a:noFill/>
        </p:spPr>
        <p:txBody>
          <a:bodyPr wrap="square" lIns="54864" rIns="45720" tIns="27432" bIns="27432">
            <a:spAutoFit/>
          </a:bodyPr>
          <a:lstStyle/>
          <a:p>
            <a:r>
              <a:rPr sz="1400" b="0">
                <a:solidFill>
                  <a:srgbClr val="232F3E"/>
                </a:solidFill>
                <a:latin typeface="Aptos"/>
              </a:rPr>
              <a:t>Approved official data integration, labelled evaluation set, reviewer feedback and access controls.</a:t>
            </a:r>
          </a:p>
        </p:txBody>
      </p:sp>
      <p:sp>
        <p:nvSpPr>
          <p:cNvPr id="14" name="Rounded Rectangle 13"/>
          <p:cNvSpPr/>
          <p:nvPr/>
        </p:nvSpPr>
        <p:spPr>
          <a:xfrm>
            <a:off x="8046720" y="1508760"/>
            <a:ext cx="3520440" cy="1828800"/>
          </a:xfrm>
          <a:prstGeom prst="roundRect">
            <a:avLst/>
          </a:prstGeom>
          <a:solidFill>
            <a:srgbClr val="EEF5FB"/>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508760"/>
            <a:ext cx="82296" cy="1828800"/>
          </a:xfrm>
          <a:prstGeom prst="rect">
            <a:avLst/>
          </a:prstGeom>
          <a:solidFill>
            <a:srgbClr val="278E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636776"/>
            <a:ext cx="3172968" cy="329184"/>
          </a:xfrm>
          <a:prstGeom prst="rect">
            <a:avLst/>
          </a:prstGeom>
          <a:noFill/>
        </p:spPr>
        <p:txBody>
          <a:bodyPr wrap="square" lIns="54864" rIns="45720" tIns="27432" bIns="27432">
            <a:spAutoFit/>
          </a:bodyPr>
          <a:lstStyle/>
          <a:p>
            <a:r>
              <a:rPr sz="1600" b="1">
                <a:solidFill>
                  <a:srgbClr val="102444"/>
                </a:solidFill>
                <a:latin typeface="Aptos"/>
              </a:rPr>
              <a:t>Phase 3 • Scale</a:t>
            </a:r>
          </a:p>
        </p:txBody>
      </p:sp>
      <p:sp>
        <p:nvSpPr>
          <p:cNvPr id="17" name="TextBox 16"/>
          <p:cNvSpPr txBox="1"/>
          <p:nvPr/>
        </p:nvSpPr>
        <p:spPr>
          <a:xfrm>
            <a:off x="8247888" y="2039112"/>
            <a:ext cx="3154680" cy="1207007"/>
          </a:xfrm>
          <a:prstGeom prst="rect">
            <a:avLst/>
          </a:prstGeom>
          <a:noFill/>
        </p:spPr>
        <p:txBody>
          <a:bodyPr wrap="square" lIns="54864" rIns="45720" tIns="27432" bIns="27432">
            <a:spAutoFit/>
          </a:bodyPr>
          <a:lstStyle/>
          <a:p>
            <a:r>
              <a:rPr sz="1400" b="0">
                <a:solidFill>
                  <a:srgbClr val="232F3E"/>
                </a:solidFill>
                <a:latin typeface="Aptos"/>
              </a:rPr>
              <a:t>Permitted marketplace connectors, multilingual OCR, duplicate clustering, monitoring and governance.</a:t>
            </a:r>
          </a:p>
        </p:txBody>
      </p:sp>
      <p:sp>
        <p:nvSpPr>
          <p:cNvPr id="18" name="TextBox 17"/>
          <p:cNvSpPr txBox="1"/>
          <p:nvPr/>
        </p:nvSpPr>
        <p:spPr>
          <a:xfrm>
            <a:off x="777240" y="4069080"/>
            <a:ext cx="10515600" cy="822960"/>
          </a:xfrm>
          <a:prstGeom prst="rect">
            <a:avLst/>
          </a:prstGeom>
          <a:noFill/>
        </p:spPr>
        <p:txBody>
          <a:bodyPr wrap="square" lIns="54864" rIns="45720" tIns="27432" bIns="27432">
            <a:spAutoFit/>
          </a:bodyPr>
          <a:lstStyle/>
          <a:p>
            <a:r>
              <a:rPr sz="1700" b="1">
                <a:solidFill>
                  <a:srgbClr val="102444"/>
                </a:solidFill>
                <a:latin typeface="Aptos"/>
              </a:rPr>
              <a:t>Go-live gates: data access approval • legal/process review • security testing • acceptable false-positive rate • documented human decision workflow.</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21. 45-second pitch</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A concise presentation script for judges</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23</a:t>
            </a:r>
          </a:p>
        </p:txBody>
      </p:sp>
      <p:sp>
        <p:nvSpPr>
          <p:cNvPr id="6" name="TextBox 5"/>
          <p:cNvSpPr txBox="1"/>
          <p:nvPr/>
        </p:nvSpPr>
        <p:spPr>
          <a:xfrm>
            <a:off x="777240" y="1600200"/>
            <a:ext cx="10607040" cy="3840480"/>
          </a:xfrm>
          <a:prstGeom prst="rect">
            <a:avLst/>
          </a:prstGeom>
          <a:noFill/>
        </p:spPr>
        <p:txBody>
          <a:bodyPr wrap="square" lIns="54864" rIns="45720" tIns="27432" bIns="27432">
            <a:spAutoFit/>
          </a:bodyPr>
          <a:lstStyle/>
          <a:p>
            <a:r>
              <a:rPr sz="2000" b="0">
                <a:solidFill>
                  <a:srgbClr val="232F3E"/>
                </a:solidFill>
                <a:latin typeface="Aptos"/>
              </a:rPr>
              <a:t>“BIS teams can receive potential misuse reports from packaging, advertisements and online marketplaces, but each case requires manual reading, identification and verification. BIS MarkGuard AI turns that workflow into an evidence-first screening pipeline. It extracts text and candidate identifiers from images, detects possible mark regions, checks product scope against an approved reference dataset, and ranks cases using transparent reasons. Every alert includes the source, timestamp, image evidence, extracted claim and lookup result. Most importantly, it does not accuse a seller automatically: uncertain cases are marked for review, and authorised officials retain the final decision. Our prototype demonstrates faster, consistent triage with a clear audit trail.”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22. Likely judge questions and answers</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Prepare to explain the boundaries of the prototype</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24</a:t>
            </a:r>
          </a:p>
        </p:txBody>
      </p:sp>
      <p:sp>
        <p:nvSpPr>
          <p:cNvPr id="6" name="TextBox 5"/>
          <p:cNvSpPr txBox="1"/>
          <p:nvPr/>
        </p:nvSpPr>
        <p:spPr>
          <a:xfrm>
            <a:off x="731520" y="1417320"/>
            <a:ext cx="2834640" cy="347472"/>
          </a:xfrm>
          <a:prstGeom prst="rect">
            <a:avLst/>
          </a:prstGeom>
          <a:noFill/>
        </p:spPr>
        <p:txBody>
          <a:bodyPr wrap="square" lIns="54864" rIns="45720" tIns="27432" bIns="27432">
            <a:spAutoFit/>
          </a:bodyPr>
          <a:lstStyle/>
          <a:p>
            <a:r>
              <a:rPr sz="1400" b="1">
                <a:solidFill>
                  <a:srgbClr val="1F5EA3"/>
                </a:solidFill>
                <a:latin typeface="Aptos"/>
              </a:rPr>
              <a:t>How do you know a mark is unauthorised?</a:t>
            </a:r>
          </a:p>
        </p:txBody>
      </p:sp>
      <p:sp>
        <p:nvSpPr>
          <p:cNvPr id="7" name="TextBox 6"/>
          <p:cNvSpPr txBox="1"/>
          <p:nvPr/>
        </p:nvSpPr>
        <p:spPr>
          <a:xfrm>
            <a:off x="3566160" y="1417320"/>
            <a:ext cx="7863840" cy="658368"/>
          </a:xfrm>
          <a:prstGeom prst="rect">
            <a:avLst/>
          </a:prstGeom>
          <a:noFill/>
        </p:spPr>
        <p:txBody>
          <a:bodyPr wrap="square" lIns="54864" rIns="45720" tIns="27432" bIns="27432">
            <a:spAutoFit/>
          </a:bodyPr>
          <a:lstStyle/>
          <a:p>
            <a:r>
              <a:rPr sz="1300" b="0">
                <a:solidFill>
                  <a:srgbClr val="232F3E"/>
                </a:solidFill>
                <a:latin typeface="Aptos"/>
              </a:rPr>
              <a:t>We do not conclude that from the image alone. We compare the candidate identifier and product scope with an approved, current reference source and send flagged cases to a reviewer.</a:t>
            </a:r>
          </a:p>
        </p:txBody>
      </p:sp>
      <p:sp>
        <p:nvSpPr>
          <p:cNvPr id="8" name="TextBox 7"/>
          <p:cNvSpPr txBox="1"/>
          <p:nvPr/>
        </p:nvSpPr>
        <p:spPr>
          <a:xfrm>
            <a:off x="731520" y="2350008"/>
            <a:ext cx="2834640" cy="347472"/>
          </a:xfrm>
          <a:prstGeom prst="rect">
            <a:avLst/>
          </a:prstGeom>
          <a:noFill/>
        </p:spPr>
        <p:txBody>
          <a:bodyPr wrap="square" lIns="54864" rIns="45720" tIns="27432" bIns="27432">
            <a:spAutoFit/>
          </a:bodyPr>
          <a:lstStyle/>
          <a:p>
            <a:r>
              <a:rPr sz="1400" b="1">
                <a:solidFill>
                  <a:srgbClr val="1F5EA3"/>
                </a:solidFill>
                <a:latin typeface="Aptos"/>
              </a:rPr>
              <a:t>What if OCR is wrong?</a:t>
            </a:r>
          </a:p>
        </p:txBody>
      </p:sp>
      <p:sp>
        <p:nvSpPr>
          <p:cNvPr id="9" name="TextBox 8"/>
          <p:cNvSpPr txBox="1"/>
          <p:nvPr/>
        </p:nvSpPr>
        <p:spPr>
          <a:xfrm>
            <a:off x="3566160" y="2350008"/>
            <a:ext cx="7863840" cy="658368"/>
          </a:xfrm>
          <a:prstGeom prst="rect">
            <a:avLst/>
          </a:prstGeom>
          <a:noFill/>
        </p:spPr>
        <p:txBody>
          <a:bodyPr wrap="square" lIns="54864" rIns="45720" tIns="27432" bIns="27432">
            <a:spAutoFit/>
          </a:bodyPr>
          <a:lstStyle/>
          <a:p>
            <a:r>
              <a:rPr sz="1300" b="0">
                <a:solidFill>
                  <a:srgbClr val="232F3E"/>
                </a:solidFill>
                <a:latin typeface="Aptos"/>
              </a:rPr>
              <a:t>We show OCR confidence and the source crop; low-confidence cases become ‘insufficient evidence’ and can be corrected by a reviewer.</a:t>
            </a:r>
          </a:p>
        </p:txBody>
      </p:sp>
      <p:sp>
        <p:nvSpPr>
          <p:cNvPr id="10" name="TextBox 9"/>
          <p:cNvSpPr txBox="1"/>
          <p:nvPr/>
        </p:nvSpPr>
        <p:spPr>
          <a:xfrm>
            <a:off x="731520" y="3282696"/>
            <a:ext cx="2834640" cy="347472"/>
          </a:xfrm>
          <a:prstGeom prst="rect">
            <a:avLst/>
          </a:prstGeom>
          <a:noFill/>
        </p:spPr>
        <p:txBody>
          <a:bodyPr wrap="square" lIns="54864" rIns="45720" tIns="27432" bIns="27432">
            <a:spAutoFit/>
          </a:bodyPr>
          <a:lstStyle/>
          <a:p>
            <a:r>
              <a:rPr sz="1400" b="1">
                <a:solidFill>
                  <a:srgbClr val="1F5EA3"/>
                </a:solidFill>
                <a:latin typeface="Aptos"/>
              </a:rPr>
              <a:t>Where does the data come from?</a:t>
            </a:r>
          </a:p>
        </p:txBody>
      </p:sp>
      <p:sp>
        <p:nvSpPr>
          <p:cNvPr id="11" name="TextBox 10"/>
          <p:cNvSpPr txBox="1"/>
          <p:nvPr/>
        </p:nvSpPr>
        <p:spPr>
          <a:xfrm>
            <a:off x="3566160" y="3282696"/>
            <a:ext cx="7863840" cy="658368"/>
          </a:xfrm>
          <a:prstGeom prst="rect">
            <a:avLst/>
          </a:prstGeom>
          <a:noFill/>
        </p:spPr>
        <p:txBody>
          <a:bodyPr wrap="square" lIns="54864" rIns="45720" tIns="27432" bIns="27432">
            <a:spAutoFit/>
          </a:bodyPr>
          <a:lstStyle/>
          <a:p>
            <a:r>
              <a:rPr sz="1300" b="0">
                <a:solidFill>
                  <a:srgbClr val="232F3E"/>
                </a:solidFill>
                <a:latin typeface="Aptos"/>
              </a:rPr>
              <a:t>For the demo, synthetic labelled examples and a clearly identified toy reference table. Production requires approved official records and documented refresh.</a:t>
            </a:r>
          </a:p>
        </p:txBody>
      </p:sp>
      <p:sp>
        <p:nvSpPr>
          <p:cNvPr id="12" name="TextBox 11"/>
          <p:cNvSpPr txBox="1"/>
          <p:nvPr/>
        </p:nvSpPr>
        <p:spPr>
          <a:xfrm>
            <a:off x="731520" y="4215384"/>
            <a:ext cx="2834640" cy="347472"/>
          </a:xfrm>
          <a:prstGeom prst="rect">
            <a:avLst/>
          </a:prstGeom>
          <a:noFill/>
        </p:spPr>
        <p:txBody>
          <a:bodyPr wrap="square" lIns="54864" rIns="45720" tIns="27432" bIns="27432">
            <a:spAutoFit/>
          </a:bodyPr>
          <a:lstStyle/>
          <a:p>
            <a:r>
              <a:rPr sz="1400" b="1">
                <a:solidFill>
                  <a:srgbClr val="1F5EA3"/>
                </a:solidFill>
                <a:latin typeface="Aptos"/>
              </a:rPr>
              <a:t>Why use AI and rules together?</a:t>
            </a:r>
          </a:p>
        </p:txBody>
      </p:sp>
      <p:sp>
        <p:nvSpPr>
          <p:cNvPr id="13" name="TextBox 12"/>
          <p:cNvSpPr txBox="1"/>
          <p:nvPr/>
        </p:nvSpPr>
        <p:spPr>
          <a:xfrm>
            <a:off x="3566160" y="4215384"/>
            <a:ext cx="7863840" cy="658368"/>
          </a:xfrm>
          <a:prstGeom prst="rect">
            <a:avLst/>
          </a:prstGeom>
          <a:noFill/>
        </p:spPr>
        <p:txBody>
          <a:bodyPr wrap="square" lIns="54864" rIns="45720" tIns="27432" bIns="27432">
            <a:spAutoFit/>
          </a:bodyPr>
          <a:lstStyle/>
          <a:p>
            <a:r>
              <a:rPr sz="1300" b="0">
                <a:solidFill>
                  <a:srgbClr val="232F3E"/>
                </a:solidFill>
                <a:latin typeface="Aptos"/>
              </a:rPr>
              <a:t>AI extracts noisy visual/text evidence; deterministic rules make scope checks and alert reasons transparent.</a:t>
            </a:r>
          </a:p>
        </p:txBody>
      </p:sp>
      <p:sp>
        <p:nvSpPr>
          <p:cNvPr id="14" name="TextBox 13"/>
          <p:cNvSpPr txBox="1"/>
          <p:nvPr/>
        </p:nvSpPr>
        <p:spPr>
          <a:xfrm>
            <a:off x="731520" y="5148072"/>
            <a:ext cx="2834640" cy="347472"/>
          </a:xfrm>
          <a:prstGeom prst="rect">
            <a:avLst/>
          </a:prstGeom>
          <a:noFill/>
        </p:spPr>
        <p:txBody>
          <a:bodyPr wrap="square" lIns="54864" rIns="45720" tIns="27432" bIns="27432">
            <a:spAutoFit/>
          </a:bodyPr>
          <a:lstStyle/>
          <a:p>
            <a:r>
              <a:rPr sz="1400" b="1">
                <a:solidFill>
                  <a:srgbClr val="1F5EA3"/>
                </a:solidFill>
                <a:latin typeface="Aptos"/>
              </a:rPr>
              <a:t>How do you prevent false accusations?</a:t>
            </a:r>
          </a:p>
        </p:txBody>
      </p:sp>
      <p:sp>
        <p:nvSpPr>
          <p:cNvPr id="15" name="TextBox 14"/>
          <p:cNvSpPr txBox="1"/>
          <p:nvPr/>
        </p:nvSpPr>
        <p:spPr>
          <a:xfrm>
            <a:off x="3566160" y="5148072"/>
            <a:ext cx="7863840" cy="658368"/>
          </a:xfrm>
          <a:prstGeom prst="rect">
            <a:avLst/>
          </a:prstGeom>
          <a:noFill/>
        </p:spPr>
        <p:txBody>
          <a:bodyPr wrap="square" lIns="54864" rIns="45720" tIns="27432" bIns="27432">
            <a:spAutoFit/>
          </a:bodyPr>
          <a:lstStyle/>
          <a:p>
            <a:r>
              <a:rPr sz="1300" b="0">
                <a:solidFill>
                  <a:srgbClr val="232F3E"/>
                </a:solidFill>
                <a:latin typeface="Aptos"/>
              </a:rPr>
              <a:t>Use neutral language, calibrated thresholds, evidence review, dismissal workflow and no automated enforcement.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2444"/>
        </a:solidFill>
        <a:effectLst/>
      </p:bgPr>
    </p:bg>
    <p:spTree>
      <p:nvGrpSpPr>
        <p:cNvPr id="1" name=""/>
        <p:cNvGrpSpPr/>
        <p:nvPr/>
      </p:nvGrpSpPr>
      <p:grpSpPr/>
      <p:sp>
        <p:nvSpPr>
          <p:cNvPr id="2" name="TextBox 1"/>
          <p:cNvSpPr txBox="1"/>
          <p:nvPr/>
        </p:nvSpPr>
        <p:spPr>
          <a:xfrm>
            <a:off x="731520" y="731520"/>
            <a:ext cx="10789920" cy="502920"/>
          </a:xfrm>
          <a:prstGeom prst="rect">
            <a:avLst/>
          </a:prstGeom>
          <a:noFill/>
        </p:spPr>
        <p:txBody>
          <a:bodyPr wrap="square" lIns="54864" rIns="45720" tIns="27432" bIns="27432">
            <a:spAutoFit/>
          </a:bodyPr>
          <a:lstStyle/>
          <a:p>
            <a:r>
              <a:rPr sz="1600" b="1">
                <a:solidFill>
                  <a:srgbClr val="21A9BE"/>
                </a:solidFill>
                <a:latin typeface="Aptos"/>
              </a:rPr>
              <a:t>BIS MARKGUARD AI</a:t>
            </a:r>
          </a:p>
        </p:txBody>
      </p:sp>
      <p:sp>
        <p:nvSpPr>
          <p:cNvPr id="3" name="TextBox 2"/>
          <p:cNvSpPr txBox="1"/>
          <p:nvPr/>
        </p:nvSpPr>
        <p:spPr>
          <a:xfrm>
            <a:off x="731520" y="1508760"/>
            <a:ext cx="10698480" cy="1097280"/>
          </a:xfrm>
          <a:prstGeom prst="rect">
            <a:avLst/>
          </a:prstGeom>
          <a:noFill/>
        </p:spPr>
        <p:txBody>
          <a:bodyPr wrap="square" lIns="54864" rIns="45720" tIns="27432" bIns="27432">
            <a:spAutoFit/>
          </a:bodyPr>
          <a:lstStyle/>
          <a:p>
            <a:r>
              <a:rPr sz="3200" b="1">
                <a:solidFill>
                  <a:srgbClr val="FFFFFF"/>
                </a:solidFill>
                <a:latin typeface="Aptos"/>
              </a:rPr>
              <a:t>Detect early. Explain every flag. Keep humans in control.</a:t>
            </a:r>
          </a:p>
        </p:txBody>
      </p:sp>
      <p:sp>
        <p:nvSpPr>
          <p:cNvPr id="4" name="TextBox 3"/>
          <p:cNvSpPr txBox="1"/>
          <p:nvPr/>
        </p:nvSpPr>
        <p:spPr>
          <a:xfrm>
            <a:off x="777240" y="3063240"/>
            <a:ext cx="9966960" cy="1234440"/>
          </a:xfrm>
          <a:prstGeom prst="rect">
            <a:avLst/>
          </a:prstGeom>
          <a:noFill/>
        </p:spPr>
        <p:txBody>
          <a:bodyPr wrap="square" lIns="54864" rIns="45720" tIns="27432" bIns="27432">
            <a:spAutoFit/>
          </a:bodyPr>
          <a:lstStyle/>
          <a:p>
            <a:r>
              <a:rPr sz="2000" b="0">
                <a:solidFill>
                  <a:srgbClr val="DAE6F3"/>
                </a:solidFill>
                <a:latin typeface="Aptos"/>
              </a:rPr>
              <a:t>A feasible PS01 prototype combines OCR, visual/text screening, approved-record matching, transparent risk scoring and a reviewer-ready evidence trail.</a:t>
            </a:r>
          </a:p>
        </p:txBody>
      </p:sp>
      <p:sp>
        <p:nvSpPr>
          <p:cNvPr id="5" name="TextBox 4"/>
          <p:cNvSpPr txBox="1"/>
          <p:nvPr/>
        </p:nvSpPr>
        <p:spPr>
          <a:xfrm>
            <a:off x="777240" y="5074920"/>
            <a:ext cx="10058400" cy="685800"/>
          </a:xfrm>
          <a:prstGeom prst="rect">
            <a:avLst/>
          </a:prstGeom>
          <a:noFill/>
        </p:spPr>
        <p:txBody>
          <a:bodyPr wrap="square" lIns="54864" rIns="45720" tIns="27432" bIns="27432">
            <a:spAutoFit/>
          </a:bodyPr>
          <a:lstStyle/>
          <a:p>
            <a:r>
              <a:rPr sz="1700" b="1">
                <a:solidFill>
                  <a:srgbClr val="21A9BE"/>
                </a:solidFill>
                <a:latin typeface="Aptos"/>
              </a:rPr>
              <a:t>Build the smallest complete workflow first; improve model quality only after collecting labelled, permitted data.</a:t>
            </a:r>
          </a:p>
        </p:txBody>
      </p:sp>
      <p:sp>
        <p:nvSpPr>
          <p:cNvPr id="6" name="TextBox 5"/>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BECDDC"/>
                </a:solidFill>
                <a:latin typeface="Apto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57200"/>
          </a:xfrm>
          <a:prstGeom prst="rect">
            <a:avLst/>
          </a:prstGeom>
          <a:noFill/>
        </p:spPr>
        <p:txBody>
          <a:bodyPr wrap="square" lIns="54864" rIns="45720" tIns="27432" bIns="27432">
            <a:spAutoFit/>
          </a:bodyPr>
          <a:lstStyle/>
          <a:p>
            <a:r>
              <a:rPr sz="2600" b="1">
                <a:solidFill>
                  <a:srgbClr val="102444"/>
                </a:solidFill>
                <a:latin typeface="Aptos"/>
              </a:rPr>
              <a:t>References and implementation notes</a:t>
            </a:r>
          </a:p>
        </p:txBody>
      </p:sp>
      <p:sp>
        <p:nvSpPr>
          <p:cNvPr id="3" name="Rectangle 2"/>
          <p:cNvSpPr/>
          <p:nvPr/>
        </p:nvSpPr>
        <p:spPr>
          <a:xfrm>
            <a:off x="530352" y="832104"/>
            <a:ext cx="1143000" cy="54864"/>
          </a:xfrm>
          <a:prstGeom prst="rect">
            <a:avLst/>
          </a:prstGeom>
          <a:solidFill>
            <a:srgbClr val="21A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50976"/>
            <a:ext cx="11064240" cy="384048"/>
          </a:xfrm>
          <a:prstGeom prst="rect">
            <a:avLst/>
          </a:prstGeom>
          <a:noFill/>
        </p:spPr>
        <p:txBody>
          <a:bodyPr wrap="square" lIns="54864" rIns="45720" tIns="27432" bIns="27432">
            <a:spAutoFit/>
          </a:bodyPr>
          <a:lstStyle/>
          <a:p>
            <a:r>
              <a:rPr sz="1100" b="0">
                <a:solidFill>
                  <a:srgbClr val="647382"/>
                </a:solidFill>
                <a:latin typeface="Aptos"/>
              </a:rPr>
              <a:t>Verify current official requirements before presenting the prototype as production-ready</a:t>
            </a:r>
          </a:p>
        </p:txBody>
      </p:sp>
      <p:sp>
        <p:nvSpPr>
          <p:cNvPr id="5" name="TextBox 4"/>
          <p:cNvSpPr txBox="1"/>
          <p:nvPr/>
        </p:nvSpPr>
        <p:spPr>
          <a:xfrm>
            <a:off x="11384280" y="6510528"/>
            <a:ext cx="320040" cy="182880"/>
          </a:xfrm>
          <a:prstGeom prst="rect">
            <a:avLst/>
          </a:prstGeom>
          <a:noFill/>
        </p:spPr>
        <p:txBody>
          <a:bodyPr wrap="square" lIns="54864" rIns="45720" tIns="27432" bIns="27432">
            <a:spAutoFit/>
          </a:bodyPr>
          <a:lstStyle/>
          <a:p>
            <a:pPr algn="r"/>
            <a:r>
              <a:rPr sz="900" b="0">
                <a:solidFill>
                  <a:srgbClr val="647382"/>
                </a:solidFill>
                <a:latin typeface="Aptos"/>
              </a:rPr>
              <a:t>26</a:t>
            </a:r>
          </a:p>
        </p:txBody>
      </p:sp>
      <p:sp>
        <p:nvSpPr>
          <p:cNvPr id="6" name="TextBox 5"/>
          <p:cNvSpPr txBox="1"/>
          <p:nvPr/>
        </p:nvSpPr>
        <p:spPr>
          <a:xfrm>
            <a:off x="713232" y="1508760"/>
            <a:ext cx="10789920" cy="4663440"/>
          </a:xfrm>
          <a:prstGeom prst="rect">
            <a:avLst/>
          </a:prstGeom>
          <a:noFill/>
        </p:spPr>
        <p:txBody>
          <a:bodyPr wrap="square" lIns="73152" rIns="45720">
            <a:spAutoFit/>
          </a:bodyPr>
          <a:lstStyle/>
          <a:p>
            <a:pPr>
              <a:spcAft>
                <a:spcPts val="1000"/>
              </a:spcAft>
              <a:defRPr sz="1600">
                <a:solidFill>
                  <a:srgbClr val="232F3E"/>
                </a:solidFill>
                <a:latin typeface="Aptos"/>
              </a:defRPr>
            </a:pPr>
            <a:r>
              <a:t>•  Bureau of Indian Standards (BIS) official website: https://www.bis.gov.in/</a:t>
            </a:r>
          </a:p>
          <a:p>
            <a:pPr>
              <a:spcAft>
                <a:spcPts val="1000"/>
              </a:spcAft>
              <a:defRPr sz="1600">
                <a:solidFill>
                  <a:srgbClr val="232F3E"/>
                </a:solidFill>
                <a:latin typeface="Aptos"/>
              </a:defRPr>
            </a:pPr>
            <a:r>
              <a:t>•  BIS Care app / official BIS channels: use only as permitted to verify licence or registration details.</a:t>
            </a:r>
          </a:p>
          <a:p>
            <a:pPr>
              <a:spcAft>
                <a:spcPts val="1000"/>
              </a:spcAft>
              <a:defRPr sz="1600">
                <a:solidFill>
                  <a:srgbClr val="232F3E"/>
                </a:solidFill>
                <a:latin typeface="Aptos"/>
              </a:defRPr>
            </a:pPr>
            <a:r>
              <a:t>•  Applicable BIS Act, rules, regulations, conformity-assessment scheme and current Quality Control Orders (QCOs): consult latest official versions relevant to the product category.</a:t>
            </a:r>
          </a:p>
          <a:p>
            <a:pPr>
              <a:spcAft>
                <a:spcPts val="1000"/>
              </a:spcAft>
              <a:defRPr sz="1600">
                <a:solidFill>
                  <a:srgbClr val="232F3E"/>
                </a:solidFill>
                <a:latin typeface="Aptos"/>
              </a:defRPr>
            </a:pPr>
            <a:r>
              <a:t>•  Technical tools: Python, Streamlit, OpenCV, Tesseract OCR / EasyOCR, pandas and SQLite documentation.</a:t>
            </a:r>
          </a:p>
          <a:p>
            <a:pPr>
              <a:spcAft>
                <a:spcPts val="1000"/>
              </a:spcAft>
              <a:defRPr sz="1600">
                <a:solidFill>
                  <a:srgbClr val="232F3E"/>
                </a:solidFill>
                <a:latin typeface="Aptos"/>
              </a:defRPr>
            </a:pPr>
            <a:r>
              <a:t>•  This presentation describes a proposed screening system. It is not legal advice, an official BIS interpretation, or evidence that any real product has misused a mark.</a:t>
            </a:r>
          </a:p>
        </p:txBody>
      </p:sp>
      <p:sp>
        <p:nvSpPr>
          <p:cNvPr id="7" name="TextBox 6"/>
          <p:cNvSpPr txBox="1"/>
          <p:nvPr/>
        </p:nvSpPr>
        <p:spPr>
          <a:xfrm>
            <a:off x="777240" y="5806440"/>
            <a:ext cx="10515600" cy="274320"/>
          </a:xfrm>
          <a:prstGeom prst="rect">
            <a:avLst/>
          </a:prstGeom>
          <a:noFill/>
        </p:spPr>
        <p:txBody>
          <a:bodyPr wrap="square" lIns="54864" rIns="45720" tIns="27432" bIns="27432">
            <a:spAutoFit/>
          </a:bodyPr>
          <a:lstStyle/>
          <a:p>
            <a:r>
              <a:rPr sz="1100" b="0">
                <a:solidFill>
                  <a:srgbClr val="647382"/>
                </a:solidFill>
                <a:latin typeface="Aptos"/>
              </a:rPr>
              <a:t>Before submission: add team details and cite any datasets, official records or screenshots actually used.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